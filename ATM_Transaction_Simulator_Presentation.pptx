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3" userDrawn="1">
          <p15:clr>
            <a:srgbClr val="A4A3A4"/>
          </p15:clr>
        </p15:guide>
        <p15:guide id="2" pos="29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043"/>
        <p:guide pos="291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ectangle 1"/>
          <p:cNvSpPr/>
          <p:nvPr/>
        </p:nvSpPr>
        <p:spPr>
          <a:xfrm>
            <a:off x="762000" y="3645098"/>
            <a:ext cx="76200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62000" y="4997648"/>
            <a:ext cx="10668000" cy="7143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2000" y="4997648"/>
            <a:ext cx="1066800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62000" y="1156771"/>
            <a:ext cx="11430000" cy="228600"/>
          </a:xfrm>
          <a:prstGeom prst="rect">
            <a:avLst/>
          </a:prstGeom>
          <a:noFill/>
        </p:spPr>
        <p:txBody>
          <a:bodyPr wrap="none" lIns="0" tIns="0" rIns="0" bIns="0" anchor="t">
            <a:spAutoFit/>
          </a:bodyPr>
          <a:lstStyle/>
          <a:p>
            <a:pPr algn="l"/>
            <a:r>
              <a:rPr sz="1500" b="1" i="0" u="none">
                <a:solidFill>
                  <a:srgbClr val="3B82F6"/>
                </a:solidFill>
                <a:latin typeface="Inter"/>
              </a:rPr>
              <a:t>JAVA PROJECT</a:t>
            </a:r>
            <a:endParaRPr sz="1500" b="1" i="0" u="none">
              <a:solidFill>
                <a:srgbClr val="3B82F6"/>
              </a:solidFill>
              <a:latin typeface="Inter"/>
            </a:endParaRPr>
          </a:p>
        </p:txBody>
      </p:sp>
      <p:sp>
        <p:nvSpPr>
          <p:cNvPr id="6" name="TextBox 5"/>
          <p:cNvSpPr txBox="1"/>
          <p:nvPr/>
        </p:nvSpPr>
        <p:spPr>
          <a:xfrm>
            <a:off x="762000" y="1603176"/>
            <a:ext cx="9101137" cy="1508521"/>
          </a:xfrm>
          <a:prstGeom prst="rect">
            <a:avLst/>
          </a:prstGeom>
          <a:noFill/>
        </p:spPr>
        <p:txBody>
          <a:bodyPr wrap="square" lIns="0" tIns="0" rIns="0" bIns="0" anchor="t">
            <a:spAutoFit/>
          </a:bodyPr>
          <a:lstStyle/>
          <a:p>
            <a:pPr algn="l">
              <a:lnSpc>
                <a:spcPts val="5940"/>
              </a:lnSpc>
            </a:pPr>
            <a:r>
              <a:rPr sz="5400" b="1" i="0" u="none">
                <a:solidFill>
                  <a:srgbClr val="F8FAFC"/>
                </a:solidFill>
                <a:latin typeface="Space Grotesk"/>
              </a:rPr>
              <a:t>ATM Transaction Simulator</a:t>
            </a:r>
            <a:endParaRPr sz="5400" b="1" i="0" u="none">
              <a:solidFill>
                <a:srgbClr val="F8FAFC"/>
              </a:solidFill>
              <a:latin typeface="Space Grotesk"/>
            </a:endParaRPr>
          </a:p>
        </p:txBody>
      </p:sp>
      <p:sp>
        <p:nvSpPr>
          <p:cNvPr id="7" name="TextBox 6"/>
          <p:cNvSpPr txBox="1"/>
          <p:nvPr/>
        </p:nvSpPr>
        <p:spPr>
          <a:xfrm>
            <a:off x="762000" y="3987998"/>
            <a:ext cx="6762750" cy="552450"/>
          </a:xfrm>
          <a:prstGeom prst="rect">
            <a:avLst/>
          </a:prstGeom>
          <a:noFill/>
        </p:spPr>
        <p:txBody>
          <a:bodyPr wrap="square" lIns="0" tIns="0" rIns="0" bIns="0" anchor="t">
            <a:spAutoFit/>
          </a:bodyPr>
          <a:lstStyle/>
          <a:p>
            <a:pPr algn="l"/>
            <a:r>
              <a:rPr sz="1800" b="0" i="0" u="none">
                <a:solidFill>
                  <a:srgbClr val="94A3B8"/>
                </a:solidFill>
                <a:latin typeface="Inter"/>
              </a:rPr>
              <a:t>Understanding logical flow and banking operations through object-oriented Java concepts.</a:t>
            </a:r>
            <a:endParaRPr sz="1800" b="0" i="0" u="none">
              <a:solidFill>
                <a:srgbClr val="94A3B8"/>
              </a:solidFill>
              <a:latin typeface="Inter"/>
            </a:endParaRPr>
          </a:p>
        </p:txBody>
      </p:sp>
      <p:sp>
        <p:nvSpPr>
          <p:cNvPr id="8" name="TextBox 7"/>
          <p:cNvSpPr txBox="1"/>
          <p:nvPr/>
        </p:nvSpPr>
        <p:spPr>
          <a:xfrm>
            <a:off x="762000" y="5311973"/>
            <a:ext cx="3381375" cy="161925"/>
          </a:xfrm>
          <a:prstGeom prst="rect">
            <a:avLst/>
          </a:prstGeom>
          <a:noFill/>
        </p:spPr>
        <p:txBody>
          <a:bodyPr wrap="none" lIns="0" tIns="0" rIns="0" bIns="0" anchor="t">
            <a:spAutoFit/>
          </a:bodyPr>
          <a:lstStyle/>
          <a:p>
            <a:pPr algn="l"/>
            <a:r>
              <a:rPr sz="1050" b="0" i="0" u="none">
                <a:solidFill>
                  <a:srgbClr val="64748B"/>
                </a:solidFill>
                <a:latin typeface="Inter"/>
              </a:rPr>
              <a:t>TEAM MEMBERS</a:t>
            </a:r>
            <a:endParaRPr sz="1050" b="0" i="0" u="none">
              <a:solidFill>
                <a:srgbClr val="64748B"/>
              </a:solidFill>
              <a:latin typeface="Inter"/>
            </a:endParaRPr>
          </a:p>
        </p:txBody>
      </p:sp>
      <p:sp>
        <p:nvSpPr>
          <p:cNvPr id="9" name="TextBox 8"/>
          <p:cNvSpPr txBox="1"/>
          <p:nvPr/>
        </p:nvSpPr>
        <p:spPr>
          <a:xfrm>
            <a:off x="762000" y="5511998"/>
            <a:ext cx="2553970" cy="415290"/>
          </a:xfrm>
          <a:prstGeom prst="rect">
            <a:avLst/>
          </a:prstGeom>
          <a:noFill/>
        </p:spPr>
        <p:txBody>
          <a:bodyPr wrap="none" lIns="0" tIns="0" rIns="0" bIns="0" anchor="t">
            <a:spAutoFit/>
          </a:bodyPr>
          <a:lstStyle/>
          <a:p>
            <a:pPr algn="l"/>
            <a:r>
              <a:rPr sz="1350" b="0" i="0" u="none">
                <a:solidFill>
                  <a:srgbClr val="F1F5F9"/>
                </a:solidFill>
                <a:latin typeface="Inter"/>
              </a:rPr>
              <a:t>Ande Keerthan </a:t>
            </a:r>
            <a:r>
              <a:rPr lang="en-US" sz="1350" b="0" i="0" u="none">
                <a:solidFill>
                  <a:srgbClr val="F1F5F9"/>
                </a:solidFill>
                <a:latin typeface="Inter"/>
              </a:rPr>
              <a:t>- 2620030661</a:t>
            </a:r>
            <a:endParaRPr sz="1350" b="0" i="0" u="none">
              <a:solidFill>
                <a:srgbClr val="F1F5F9"/>
              </a:solidFill>
              <a:latin typeface="Inter"/>
            </a:endParaRPr>
          </a:p>
          <a:p>
            <a:pPr algn="l"/>
            <a:r>
              <a:rPr sz="1350" b="0" i="0" u="none">
                <a:solidFill>
                  <a:srgbClr val="F1F5F9"/>
                </a:solidFill>
                <a:latin typeface="Inter"/>
              </a:rPr>
              <a:t>Mamidi Yuvaraj</a:t>
            </a:r>
            <a:r>
              <a:rPr lang="en-US" sz="1350" b="0" i="0" u="none">
                <a:solidFill>
                  <a:srgbClr val="F1F5F9"/>
                </a:solidFill>
                <a:latin typeface="Inter"/>
              </a:rPr>
              <a:t> - 2620030680</a:t>
            </a:r>
            <a:endParaRPr lang="en-US" sz="1350" b="0" i="0" u="none">
              <a:solidFill>
                <a:srgbClr val="F1F5F9"/>
              </a:solidFill>
              <a:latin typeface="Inter"/>
            </a:endParaRPr>
          </a:p>
        </p:txBody>
      </p:sp>
      <p:sp>
        <p:nvSpPr>
          <p:cNvPr id="10" name="TextBox 9"/>
          <p:cNvSpPr txBox="1"/>
          <p:nvPr/>
        </p:nvSpPr>
        <p:spPr>
          <a:xfrm>
            <a:off x="3924300" y="5311973"/>
            <a:ext cx="1057275" cy="161925"/>
          </a:xfrm>
          <a:prstGeom prst="rect">
            <a:avLst/>
          </a:prstGeom>
          <a:noFill/>
        </p:spPr>
        <p:txBody>
          <a:bodyPr wrap="none" lIns="0" tIns="0" rIns="0" bIns="0" anchor="t">
            <a:spAutoFit/>
          </a:bodyPr>
          <a:lstStyle/>
          <a:p>
            <a:pPr algn="l"/>
            <a:r>
              <a:rPr sz="1050" b="0" i="0" u="none">
                <a:solidFill>
                  <a:srgbClr val="64748B"/>
                </a:solidFill>
                <a:latin typeface="Inter"/>
              </a:rPr>
              <a:t>BATCH</a:t>
            </a:r>
            <a:endParaRPr sz="1050" b="0" i="0" u="none">
              <a:solidFill>
                <a:srgbClr val="64748B"/>
              </a:solidFill>
              <a:latin typeface="Inter"/>
            </a:endParaRPr>
          </a:p>
        </p:txBody>
      </p:sp>
      <p:sp>
        <p:nvSpPr>
          <p:cNvPr id="11" name="TextBox 10"/>
          <p:cNvSpPr txBox="1"/>
          <p:nvPr/>
        </p:nvSpPr>
        <p:spPr>
          <a:xfrm>
            <a:off x="3924300" y="5511998"/>
            <a:ext cx="1057275" cy="200025"/>
          </a:xfrm>
          <a:prstGeom prst="rect">
            <a:avLst/>
          </a:prstGeom>
          <a:noFill/>
        </p:spPr>
        <p:txBody>
          <a:bodyPr wrap="none" lIns="0" tIns="0" rIns="0" bIns="0" anchor="t">
            <a:spAutoFit/>
          </a:bodyPr>
          <a:lstStyle/>
          <a:p>
            <a:pPr algn="l"/>
            <a:r>
              <a:rPr sz="1350" b="0" i="0" u="none">
                <a:solidFill>
                  <a:srgbClr val="F1F5F9"/>
                </a:solidFill>
                <a:latin typeface="Inter"/>
              </a:rPr>
              <a:t>Batch - 11</a:t>
            </a:r>
            <a:endParaRPr sz="1350" b="0" i="0" u="none">
              <a:solidFill>
                <a:srgbClr val="F1F5F9"/>
              </a:solidFill>
              <a:latin typeface="Inter"/>
            </a:endParaRPr>
          </a:p>
        </p:txBody>
      </p:sp>
      <p:pic>
        <p:nvPicPr>
          <p:cNvPr id="13" name="Picture 12"/>
          <p:cNvPicPr/>
          <p:nvPr/>
        </p:nvPicPr>
        <p:blipFill>
          <a:blip r:embed="rId1"/>
          <a:stretch>
            <a:fillRect/>
          </a:stretch>
        </p:blipFill>
        <p:spPr>
          <a:xfrm>
            <a:off x="9824085" y="0"/>
            <a:ext cx="2367915" cy="10693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1199515"/>
            <a:ext cx="5283200" cy="4833620"/>
          </a:xfrm>
          <a:prstGeom prst="roundRect">
            <a:avLst>
              <a:gd name="adj" fmla="val 559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218555" y="1155065"/>
            <a:ext cx="5352415" cy="4892040"/>
          </a:xfrm>
          <a:prstGeom prst="roundRect">
            <a:avLst>
              <a:gd name="adj" fmla="val 559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923925" y="1285478"/>
            <a:ext cx="381000" cy="304800"/>
          </a:xfrm>
          <a:prstGeom prst="rect">
            <a:avLst/>
          </a:prstGeom>
        </p:spPr>
      </p:pic>
      <p:pic>
        <p:nvPicPr>
          <p:cNvPr id="6" name="Picture 5" descr="image.png"/>
          <p:cNvPicPr>
            <a:picLocks noChangeAspect="1"/>
          </p:cNvPicPr>
          <p:nvPr/>
        </p:nvPicPr>
        <p:blipFill>
          <a:blip r:embed="rId2"/>
          <a:stretch>
            <a:fillRect/>
          </a:stretch>
        </p:blipFill>
        <p:spPr>
          <a:xfrm>
            <a:off x="6532979" y="1285478"/>
            <a:ext cx="228600" cy="304800"/>
          </a:xfrm>
          <a:prstGeom prst="rect">
            <a:avLst/>
          </a:prstGeom>
        </p:spPr>
      </p:pic>
      <p:sp>
        <p:nvSpPr>
          <p:cNvPr id="7" name="TextBox 6"/>
          <p:cNvSpPr txBox="1"/>
          <p:nvPr/>
        </p:nvSpPr>
        <p:spPr>
          <a:xfrm>
            <a:off x="609600" y="151765"/>
            <a:ext cx="11582400" cy="200025"/>
          </a:xfrm>
          <a:prstGeom prst="rect">
            <a:avLst/>
          </a:prstGeom>
          <a:noFill/>
        </p:spPr>
        <p:txBody>
          <a:bodyPr wrap="none" lIns="0" tIns="0" rIns="0" bIns="0" anchor="t">
            <a:spAutoFit/>
          </a:bodyPr>
          <a:lstStyle/>
          <a:p>
            <a:pPr algn="l"/>
            <a:r>
              <a:rPr sz="1350" b="0" i="0" u="none">
                <a:solidFill>
                  <a:srgbClr val="64748B"/>
                </a:solidFill>
                <a:latin typeface="Inter"/>
              </a:rPr>
              <a:t>ABSTRACT</a:t>
            </a:r>
            <a:endParaRPr sz="1350" b="0" i="0" u="none">
              <a:solidFill>
                <a:srgbClr val="64748B"/>
              </a:solidFill>
              <a:latin typeface="Inter"/>
            </a:endParaRPr>
          </a:p>
        </p:txBody>
      </p:sp>
      <p:sp>
        <p:nvSpPr>
          <p:cNvPr id="8" name="TextBox 7"/>
          <p:cNvSpPr txBox="1"/>
          <p:nvPr/>
        </p:nvSpPr>
        <p:spPr>
          <a:xfrm>
            <a:off x="609600" y="441325"/>
            <a:ext cx="11582400" cy="438150"/>
          </a:xfrm>
          <a:prstGeom prst="rect">
            <a:avLst/>
          </a:prstGeom>
          <a:noFill/>
        </p:spPr>
        <p:txBody>
          <a:bodyPr wrap="none" lIns="0" tIns="0" rIns="0" bIns="0" anchor="t">
            <a:spAutoFit/>
          </a:bodyPr>
          <a:lstStyle/>
          <a:p>
            <a:pPr algn="l"/>
            <a:r>
              <a:rPr sz="2700" b="1" i="0" u="none">
                <a:solidFill>
                  <a:srgbClr val="0F172A"/>
                </a:solidFill>
                <a:latin typeface="Space Grotesk"/>
              </a:rPr>
              <a:t>System Overview</a:t>
            </a:r>
            <a:endParaRPr sz="2700" b="1" i="0" u="none">
              <a:solidFill>
                <a:srgbClr val="0F172A"/>
              </a:solidFill>
              <a:latin typeface="Space Grotesk"/>
            </a:endParaRPr>
          </a:p>
        </p:txBody>
      </p:sp>
      <p:sp>
        <p:nvSpPr>
          <p:cNvPr id="9" name="TextBox 8"/>
          <p:cNvSpPr txBox="1"/>
          <p:nvPr/>
        </p:nvSpPr>
        <p:spPr>
          <a:xfrm>
            <a:off x="1396365" y="1282938"/>
            <a:ext cx="3708861" cy="295275"/>
          </a:xfrm>
          <a:prstGeom prst="rect">
            <a:avLst/>
          </a:prstGeom>
          <a:noFill/>
        </p:spPr>
        <p:txBody>
          <a:bodyPr wrap="none" lIns="0" tIns="0" rIns="0" bIns="0" anchor="t">
            <a:spAutoFit/>
          </a:bodyPr>
          <a:lstStyle/>
          <a:p>
            <a:pPr algn="l"/>
            <a:r>
              <a:rPr sz="1800" b="1" i="0" u="none">
                <a:solidFill>
                  <a:srgbClr val="0F172A"/>
                </a:solidFill>
                <a:latin typeface="Space Grotesk"/>
              </a:rPr>
              <a:t>Core Operations</a:t>
            </a:r>
            <a:endParaRPr sz="1800" b="1" i="0" u="none">
              <a:solidFill>
                <a:srgbClr val="0F172A"/>
              </a:solidFill>
              <a:latin typeface="Space Grotesk"/>
            </a:endParaRPr>
          </a:p>
        </p:txBody>
      </p:sp>
      <p:sp>
        <p:nvSpPr>
          <p:cNvPr id="10" name="TextBox 9"/>
          <p:cNvSpPr txBox="1"/>
          <p:nvPr/>
        </p:nvSpPr>
        <p:spPr>
          <a:xfrm>
            <a:off x="923925" y="2143125"/>
            <a:ext cx="4841240" cy="3392805"/>
          </a:xfrm>
          <a:prstGeom prst="rect">
            <a:avLst/>
          </a:prstGeom>
          <a:noFill/>
        </p:spPr>
        <p:txBody>
          <a:bodyPr wrap="square" lIns="0" tIns="0" rIns="0" bIns="0" anchor="t">
            <a:spAutoFit/>
          </a:bodyPr>
          <a:lstStyle/>
          <a:p>
            <a:pPr algn="l">
              <a:lnSpc>
                <a:spcPts val="1890"/>
              </a:lnSpc>
            </a:pPr>
            <a:r>
              <a:rPr lang="en-US" altLang="en-US" sz="1350" b="0" i="0" u="none">
                <a:solidFill>
                  <a:srgbClr val="475569"/>
                </a:solidFill>
                <a:latin typeface="Inter"/>
              </a:rPr>
              <a:t>The ATM Transaction Simulator is a Java-based application developed to demonstrate essential ATM operations, such as PIN authentication, balance inquiry, cash deposits, and withdrawals. It provides an interactive, menu-driven interface that allows users to select and perform different banking operations. The system verifies the user's PIN, validates transaction amounts, checks the available balance before withdrawals, and updates the account balance after successful transactions. It also maintains transaction records, helping users understand how banking activities are tracked and managed. Through this project, we demonstrate how Java programming concepts can be used to simulate real-world ATM functionality in a simple and organized manner.</a:t>
            </a:r>
            <a:endParaRPr lang="en-US" altLang="en-US" sz="1350" b="0" i="0" u="none">
              <a:solidFill>
                <a:srgbClr val="475569"/>
              </a:solidFill>
              <a:latin typeface="Inter"/>
            </a:endParaRPr>
          </a:p>
        </p:txBody>
      </p:sp>
      <p:sp>
        <p:nvSpPr>
          <p:cNvPr id="13" name="TextBox 12"/>
          <p:cNvSpPr txBox="1"/>
          <p:nvPr/>
        </p:nvSpPr>
        <p:spPr>
          <a:xfrm>
            <a:off x="6894294" y="1295003"/>
            <a:ext cx="3708861" cy="295275"/>
          </a:xfrm>
          <a:prstGeom prst="rect">
            <a:avLst/>
          </a:prstGeom>
          <a:noFill/>
        </p:spPr>
        <p:txBody>
          <a:bodyPr wrap="none" lIns="0" tIns="0" rIns="0" bIns="0" anchor="t">
            <a:spAutoFit/>
          </a:bodyPr>
          <a:lstStyle/>
          <a:p>
            <a:pPr algn="l"/>
            <a:r>
              <a:rPr sz="1800" b="1" i="0" u="none">
                <a:solidFill>
                  <a:srgbClr val="0F172A"/>
                </a:solidFill>
                <a:latin typeface="Space Grotesk"/>
              </a:rPr>
              <a:t>Technical Focus</a:t>
            </a:r>
            <a:endParaRPr sz="1800" b="1" i="0" u="none">
              <a:solidFill>
                <a:srgbClr val="0F172A"/>
              </a:solidFill>
              <a:latin typeface="Space Grotesk"/>
            </a:endParaRPr>
          </a:p>
        </p:txBody>
      </p:sp>
      <p:sp>
        <p:nvSpPr>
          <p:cNvPr id="14" name="TextBox 13"/>
          <p:cNvSpPr txBox="1"/>
          <p:nvPr/>
        </p:nvSpPr>
        <p:spPr>
          <a:xfrm>
            <a:off x="6532880" y="2143125"/>
            <a:ext cx="4841240" cy="3392805"/>
          </a:xfrm>
          <a:prstGeom prst="rect">
            <a:avLst/>
          </a:prstGeom>
          <a:noFill/>
        </p:spPr>
        <p:txBody>
          <a:bodyPr wrap="square" lIns="0" tIns="0" rIns="0" bIns="0" anchor="t">
            <a:spAutoFit/>
          </a:bodyPr>
          <a:lstStyle/>
          <a:p>
            <a:pPr algn="l">
              <a:lnSpc>
                <a:spcPts val="1890"/>
              </a:lnSpc>
            </a:pPr>
            <a:r>
              <a:rPr lang="en-US" altLang="en-US" sz="1350" b="0" i="0" u="none">
                <a:solidFill>
                  <a:srgbClr val="475569"/>
                </a:solidFill>
                <a:latin typeface="Inter"/>
              </a:rPr>
              <a:t>The system authenticates users by verifying their PIN and provides a menu of banking services, allowing them to check their balance, deposit money, withdraw cash, and view transaction history. It validates transaction amounts, checks the available balance before withdrawals, and updates the account balance after successful transactions. The application also uses object-oriented programming to organize the code, exception handling to manage errors, and file handling to store transaction records for future reference. By combining these Java concepts, the project demonstrates how ATM transactions are processed systematically and provides a foundation for understanding and developing more advanced banking applications.</a:t>
            </a:r>
            <a:endParaRPr lang="en-US" altLang="en-US" sz="1350" b="0" i="0" u="none">
              <a:solidFill>
                <a:srgbClr val="475569"/>
              </a:solidFill>
              <a:latin typeface="Inter"/>
            </a:endParaRPr>
          </a:p>
        </p:txBody>
      </p:sp>
      <p:pic>
        <p:nvPicPr>
          <p:cNvPr id="3" name="Picture 2"/>
          <p:cNvPicPr/>
          <p:nvPr/>
        </p:nvPicPr>
        <p:blipFill>
          <a:blip r:embed="rId3"/>
          <a:stretch>
            <a:fillRect/>
          </a:stretch>
        </p:blipFill>
        <p:spPr>
          <a:xfrm>
            <a:off x="9848215" y="-450215"/>
            <a:ext cx="2011045" cy="15671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5934075" y="1738312"/>
            <a:ext cx="5648325" cy="3381375"/>
          </a:xfrm>
          <a:prstGeom prst="roundRect">
            <a:avLst>
              <a:gd name="adj" fmla="val 450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1"/>
          <a:stretch>
            <a:fillRect/>
          </a:stretch>
        </p:blipFill>
        <p:spPr>
          <a:xfrm>
            <a:off x="609600" y="2905125"/>
            <a:ext cx="171450" cy="200025"/>
          </a:xfrm>
          <a:prstGeom prst="rect">
            <a:avLst/>
          </a:prstGeom>
        </p:spPr>
      </p:pic>
      <p:pic>
        <p:nvPicPr>
          <p:cNvPr id="4" name="Picture 3" descr="image.png"/>
          <p:cNvPicPr>
            <a:picLocks noChangeAspect="1"/>
          </p:cNvPicPr>
          <p:nvPr/>
        </p:nvPicPr>
        <p:blipFill>
          <a:blip r:embed="rId1"/>
          <a:stretch>
            <a:fillRect/>
          </a:stretch>
        </p:blipFill>
        <p:spPr>
          <a:xfrm>
            <a:off x="609600" y="3514725"/>
            <a:ext cx="171450" cy="200025"/>
          </a:xfrm>
          <a:prstGeom prst="rect">
            <a:avLst/>
          </a:prstGeom>
        </p:spPr>
      </p:pic>
      <p:pic>
        <p:nvPicPr>
          <p:cNvPr id="5" name="Picture 4" descr="image.png"/>
          <p:cNvPicPr>
            <a:picLocks noChangeAspect="1"/>
          </p:cNvPicPr>
          <p:nvPr/>
        </p:nvPicPr>
        <p:blipFill>
          <a:blip r:embed="rId1"/>
          <a:stretch>
            <a:fillRect/>
          </a:stretch>
        </p:blipFill>
        <p:spPr>
          <a:xfrm>
            <a:off x="609600" y="4124325"/>
            <a:ext cx="171450" cy="200025"/>
          </a:xfrm>
          <a:prstGeom prst="rect">
            <a:avLst/>
          </a:prstGeom>
        </p:spPr>
      </p:pic>
      <p:sp>
        <p:nvSpPr>
          <p:cNvPr id="6" name="TextBox 5"/>
          <p:cNvSpPr txBox="1"/>
          <p:nvPr/>
        </p:nvSpPr>
        <p:spPr>
          <a:xfrm>
            <a:off x="609600" y="2157412"/>
            <a:ext cx="6188273" cy="485775"/>
          </a:xfrm>
          <a:prstGeom prst="rect">
            <a:avLst/>
          </a:prstGeom>
          <a:noFill/>
        </p:spPr>
        <p:txBody>
          <a:bodyPr wrap="none" lIns="0" tIns="0" rIns="0" bIns="0" anchor="t">
            <a:spAutoFit/>
          </a:bodyPr>
          <a:lstStyle/>
          <a:p>
            <a:pPr algn="l"/>
            <a:r>
              <a:rPr sz="3000" b="1" i="0" u="none">
                <a:solidFill>
                  <a:srgbClr val="0F172A"/>
                </a:solidFill>
                <a:latin typeface="Space Grotesk"/>
              </a:rPr>
              <a:t>Problem Statement</a:t>
            </a:r>
            <a:endParaRPr sz="3000" b="1" i="0" u="none">
              <a:solidFill>
                <a:srgbClr val="0F172A"/>
              </a:solidFill>
              <a:latin typeface="Space Grotesk"/>
            </a:endParaRPr>
          </a:p>
        </p:txBody>
      </p:sp>
      <p:sp>
        <p:nvSpPr>
          <p:cNvPr id="7" name="TextBox 6"/>
          <p:cNvSpPr txBox="1"/>
          <p:nvPr/>
        </p:nvSpPr>
        <p:spPr>
          <a:xfrm>
            <a:off x="5664100" y="2205037"/>
            <a:ext cx="6188273" cy="295275"/>
          </a:xfrm>
          <a:prstGeom prst="rect">
            <a:avLst/>
          </a:prstGeom>
          <a:noFill/>
        </p:spPr>
        <p:txBody>
          <a:bodyPr wrap="none" lIns="0" tIns="0" rIns="0" bIns="0" anchor="t">
            <a:spAutoFit/>
          </a:bodyPr>
          <a:lstStyle/>
          <a:p>
            <a:pPr algn="ctr"/>
            <a:r>
              <a:rPr sz="1800" b="1" i="0" u="none">
                <a:solidFill>
                  <a:srgbClr val="0F172A"/>
                </a:solidFill>
                <a:latin typeface="Space Grotesk"/>
              </a:rPr>
              <a:t>========== ATM MENU ==========</a:t>
            </a:r>
            <a:endParaRPr sz="1800" b="1" i="0" u="none">
              <a:solidFill>
                <a:srgbClr val="0F172A"/>
              </a:solidFill>
              <a:latin typeface="Space Grotesk"/>
            </a:endParaRPr>
          </a:p>
        </p:txBody>
      </p:sp>
      <p:sp>
        <p:nvSpPr>
          <p:cNvPr id="8" name="TextBox 7"/>
          <p:cNvSpPr txBox="1"/>
          <p:nvPr/>
        </p:nvSpPr>
        <p:spPr>
          <a:xfrm>
            <a:off x="933450" y="2871787"/>
            <a:ext cx="4486275" cy="457200"/>
          </a:xfrm>
          <a:prstGeom prst="rect">
            <a:avLst/>
          </a:prstGeom>
          <a:noFill/>
        </p:spPr>
        <p:txBody>
          <a:bodyPr wrap="square" lIns="0" tIns="0" rIns="0" bIns="0" anchor="t">
            <a:spAutoFit/>
          </a:bodyPr>
          <a:lstStyle/>
          <a:p>
            <a:pPr algn="l"/>
            <a:r>
              <a:rPr sz="1500" b="1" i="0" u="none">
                <a:solidFill>
                  <a:srgbClr val="2563EB"/>
                </a:solidFill>
                <a:latin typeface="Inter"/>
              </a:rPr>
              <a:t>Sequential Steps:</a:t>
            </a:r>
            <a:r>
              <a:rPr sz="1500" b="1" i="0" u="none">
                <a:solidFill>
                  <a:srgbClr val="2563EB"/>
                </a:solidFill>
                <a:latin typeface="Inter"/>
              </a:rPr>
              <a:t> Manage user authentication, service selection, and validation.</a:t>
            </a:r>
            <a:endParaRPr sz="1500" b="1" i="0" u="none">
              <a:solidFill>
                <a:srgbClr val="2563EB"/>
              </a:solidFill>
              <a:latin typeface="Inter"/>
            </a:endParaRPr>
          </a:p>
        </p:txBody>
      </p:sp>
      <p:sp>
        <p:nvSpPr>
          <p:cNvPr id="9" name="TextBox 8"/>
          <p:cNvSpPr txBox="1"/>
          <p:nvPr/>
        </p:nvSpPr>
        <p:spPr>
          <a:xfrm>
            <a:off x="933450" y="3481387"/>
            <a:ext cx="4486275" cy="457200"/>
          </a:xfrm>
          <a:prstGeom prst="rect">
            <a:avLst/>
          </a:prstGeom>
          <a:noFill/>
        </p:spPr>
        <p:txBody>
          <a:bodyPr wrap="square" lIns="0" tIns="0" rIns="0" bIns="0" anchor="t">
            <a:spAutoFit/>
          </a:bodyPr>
          <a:lstStyle/>
          <a:p>
            <a:pPr algn="l"/>
            <a:r>
              <a:rPr sz="1500" b="1" i="0" u="none">
                <a:solidFill>
                  <a:srgbClr val="2563EB"/>
                </a:solidFill>
                <a:latin typeface="Inter"/>
              </a:rPr>
              <a:t>Software Representation:</a:t>
            </a:r>
            <a:r>
              <a:rPr sz="1500" b="1" i="0" u="none">
                <a:solidFill>
                  <a:srgbClr val="2563EB"/>
                </a:solidFill>
                <a:latin typeface="Inter"/>
              </a:rPr>
              <a:t> Build a simple, organized system for banking interaction.</a:t>
            </a:r>
            <a:endParaRPr sz="1500" b="1" i="0" u="none">
              <a:solidFill>
                <a:srgbClr val="2563EB"/>
              </a:solidFill>
              <a:latin typeface="Inter"/>
            </a:endParaRPr>
          </a:p>
        </p:txBody>
      </p:sp>
      <p:sp>
        <p:nvSpPr>
          <p:cNvPr id="10" name="TextBox 9"/>
          <p:cNvSpPr txBox="1"/>
          <p:nvPr/>
        </p:nvSpPr>
        <p:spPr>
          <a:xfrm>
            <a:off x="933450" y="4090987"/>
            <a:ext cx="4486275" cy="457200"/>
          </a:xfrm>
          <a:prstGeom prst="rect">
            <a:avLst/>
          </a:prstGeom>
          <a:noFill/>
        </p:spPr>
        <p:txBody>
          <a:bodyPr wrap="square" lIns="0" tIns="0" rIns="0" bIns="0" anchor="t">
            <a:spAutoFit/>
          </a:bodyPr>
          <a:lstStyle/>
          <a:p>
            <a:pPr algn="l"/>
            <a:r>
              <a:rPr sz="1500" b="1" i="0" u="none">
                <a:solidFill>
                  <a:srgbClr val="2563EB"/>
                </a:solidFill>
                <a:latin typeface="Inter"/>
              </a:rPr>
              <a:t>Core Goals:</a:t>
            </a:r>
            <a:r>
              <a:rPr sz="1500" b="1" i="0" u="none">
                <a:solidFill>
                  <a:srgbClr val="2563EB"/>
                </a:solidFill>
                <a:latin typeface="Inter"/>
              </a:rPr>
              <a:t> Authenticate via PIN, validate conditions, and provide accurate responses.</a:t>
            </a:r>
            <a:endParaRPr sz="1500" b="1" i="0" u="none">
              <a:solidFill>
                <a:srgbClr val="2563EB"/>
              </a:solidFill>
              <a:latin typeface="Inter"/>
            </a:endParaRPr>
          </a:p>
        </p:txBody>
      </p:sp>
      <p:sp>
        <p:nvSpPr>
          <p:cNvPr id="11" name="TextBox 10"/>
          <p:cNvSpPr txBox="1"/>
          <p:nvPr/>
        </p:nvSpPr>
        <p:spPr>
          <a:xfrm>
            <a:off x="6400800" y="2805112"/>
            <a:ext cx="5791200" cy="247650"/>
          </a:xfrm>
          <a:prstGeom prst="rect">
            <a:avLst/>
          </a:prstGeom>
          <a:noFill/>
        </p:spPr>
        <p:txBody>
          <a:bodyPr wrap="none" lIns="0" tIns="0" rIns="0" bIns="0" anchor="t">
            <a:spAutoFit/>
          </a:bodyPr>
          <a:lstStyle/>
          <a:p>
            <a:pPr algn="l"/>
            <a:r>
              <a:rPr sz="1500" b="0" i="0" u="none">
                <a:solidFill>
                  <a:srgbClr val="334155"/>
                </a:solidFill>
                <a:latin typeface="Fira Code"/>
              </a:rPr>
              <a:t>1. Check Balance</a:t>
            </a:r>
            <a:endParaRPr sz="1500" b="0" i="0" u="none">
              <a:solidFill>
                <a:srgbClr val="334155"/>
              </a:solidFill>
              <a:latin typeface="Fira Code"/>
            </a:endParaRPr>
          </a:p>
        </p:txBody>
      </p:sp>
      <p:sp>
        <p:nvSpPr>
          <p:cNvPr id="12" name="TextBox 11"/>
          <p:cNvSpPr txBox="1"/>
          <p:nvPr/>
        </p:nvSpPr>
        <p:spPr>
          <a:xfrm>
            <a:off x="6400800" y="3205162"/>
            <a:ext cx="5791200" cy="247650"/>
          </a:xfrm>
          <a:prstGeom prst="rect">
            <a:avLst/>
          </a:prstGeom>
          <a:noFill/>
        </p:spPr>
        <p:txBody>
          <a:bodyPr wrap="none" lIns="0" tIns="0" rIns="0" bIns="0" anchor="t">
            <a:spAutoFit/>
          </a:bodyPr>
          <a:lstStyle/>
          <a:p>
            <a:pPr algn="l"/>
            <a:r>
              <a:rPr sz="1500" b="0" i="0" u="none">
                <a:solidFill>
                  <a:srgbClr val="334155"/>
                </a:solidFill>
                <a:latin typeface="Fira Code"/>
              </a:rPr>
              <a:t>2. Deposit Money</a:t>
            </a:r>
            <a:endParaRPr sz="1500" b="0" i="0" u="none">
              <a:solidFill>
                <a:srgbClr val="334155"/>
              </a:solidFill>
              <a:latin typeface="Fira Code"/>
            </a:endParaRPr>
          </a:p>
        </p:txBody>
      </p:sp>
      <p:sp>
        <p:nvSpPr>
          <p:cNvPr id="13" name="TextBox 12"/>
          <p:cNvSpPr txBox="1"/>
          <p:nvPr/>
        </p:nvSpPr>
        <p:spPr>
          <a:xfrm>
            <a:off x="6400800" y="3605212"/>
            <a:ext cx="5791200" cy="247650"/>
          </a:xfrm>
          <a:prstGeom prst="rect">
            <a:avLst/>
          </a:prstGeom>
          <a:noFill/>
        </p:spPr>
        <p:txBody>
          <a:bodyPr wrap="none" lIns="0" tIns="0" rIns="0" bIns="0" anchor="t">
            <a:spAutoFit/>
          </a:bodyPr>
          <a:lstStyle/>
          <a:p>
            <a:pPr algn="l"/>
            <a:r>
              <a:rPr sz="1500" b="0" i="0" u="none">
                <a:solidFill>
                  <a:srgbClr val="334155"/>
                </a:solidFill>
                <a:latin typeface="Fira Code"/>
              </a:rPr>
              <a:t>3. Withdraw Money</a:t>
            </a:r>
            <a:endParaRPr sz="1500" b="0" i="0" u="none">
              <a:solidFill>
                <a:srgbClr val="334155"/>
              </a:solidFill>
              <a:latin typeface="Fira Code"/>
            </a:endParaRPr>
          </a:p>
        </p:txBody>
      </p:sp>
      <p:sp>
        <p:nvSpPr>
          <p:cNvPr id="14" name="TextBox 13"/>
          <p:cNvSpPr txBox="1"/>
          <p:nvPr/>
        </p:nvSpPr>
        <p:spPr>
          <a:xfrm>
            <a:off x="6400800" y="4005262"/>
            <a:ext cx="5791200" cy="247650"/>
          </a:xfrm>
          <a:prstGeom prst="rect">
            <a:avLst/>
          </a:prstGeom>
          <a:noFill/>
        </p:spPr>
        <p:txBody>
          <a:bodyPr wrap="none" lIns="0" tIns="0" rIns="0" bIns="0" anchor="t">
            <a:spAutoFit/>
          </a:bodyPr>
          <a:lstStyle/>
          <a:p>
            <a:pPr algn="l"/>
            <a:r>
              <a:rPr sz="1500" b="0" i="0" u="none">
                <a:solidFill>
                  <a:srgbClr val="334155"/>
                </a:solidFill>
                <a:latin typeface="Fira Code"/>
              </a:rPr>
              <a:t>4. Transaction History</a:t>
            </a:r>
            <a:endParaRPr sz="1500" b="0" i="0" u="none">
              <a:solidFill>
                <a:srgbClr val="334155"/>
              </a:solidFill>
              <a:latin typeface="Fira Code"/>
            </a:endParaRPr>
          </a:p>
        </p:txBody>
      </p:sp>
      <p:sp>
        <p:nvSpPr>
          <p:cNvPr id="15" name="TextBox 14"/>
          <p:cNvSpPr txBox="1"/>
          <p:nvPr/>
        </p:nvSpPr>
        <p:spPr>
          <a:xfrm>
            <a:off x="6400800" y="4405312"/>
            <a:ext cx="5791200" cy="247650"/>
          </a:xfrm>
          <a:prstGeom prst="rect">
            <a:avLst/>
          </a:prstGeom>
          <a:noFill/>
        </p:spPr>
        <p:txBody>
          <a:bodyPr wrap="none" lIns="0" tIns="0" rIns="0" bIns="0" anchor="t">
            <a:spAutoFit/>
          </a:bodyPr>
          <a:lstStyle/>
          <a:p>
            <a:pPr algn="l"/>
            <a:r>
              <a:rPr sz="1500" b="0" i="0" u="none">
                <a:solidFill>
                  <a:srgbClr val="334155"/>
                </a:solidFill>
                <a:latin typeface="Fira Code"/>
              </a:rPr>
              <a:t>5. Exit</a:t>
            </a:r>
            <a:endParaRPr sz="1500" b="0" i="0" u="none">
              <a:solidFill>
                <a:srgbClr val="334155"/>
              </a:solidFill>
              <a:latin typeface="Fira Code"/>
            </a:endParaRPr>
          </a:p>
        </p:txBody>
      </p:sp>
      <p:pic>
        <p:nvPicPr>
          <p:cNvPr id="16" name="Picture 15"/>
          <p:cNvPicPr/>
          <p:nvPr/>
        </p:nvPicPr>
        <p:blipFill>
          <a:blip r:embed="rId2"/>
          <a:stretch>
            <a:fillRect/>
          </a:stretch>
        </p:blipFill>
        <p:spPr>
          <a:xfrm>
            <a:off x="9848215" y="-439420"/>
            <a:ext cx="2011045" cy="15671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281487"/>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2324100"/>
            <a:ext cx="5295900" cy="2209800"/>
          </a:xfrm>
          <a:prstGeom prst="roundRect">
            <a:avLst>
              <a:gd name="adj" fmla="val 517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281487"/>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638425"/>
            <a:ext cx="171450" cy="200025"/>
          </a:xfrm>
          <a:prstGeom prst="rect">
            <a:avLst/>
          </a:prstGeom>
        </p:spPr>
      </p:pic>
      <p:pic>
        <p:nvPicPr>
          <p:cNvPr id="6" name="Picture 5" descr="image.png"/>
          <p:cNvPicPr>
            <a:picLocks noChangeAspect="1"/>
          </p:cNvPicPr>
          <p:nvPr/>
        </p:nvPicPr>
        <p:blipFill>
          <a:blip r:embed="rId1"/>
          <a:stretch>
            <a:fillRect/>
          </a:stretch>
        </p:blipFill>
        <p:spPr>
          <a:xfrm>
            <a:off x="609600" y="3019425"/>
            <a:ext cx="171450" cy="200025"/>
          </a:xfrm>
          <a:prstGeom prst="rect">
            <a:avLst/>
          </a:prstGeom>
        </p:spPr>
      </p:pic>
      <p:pic>
        <p:nvPicPr>
          <p:cNvPr id="7" name="Picture 6" descr="image.png"/>
          <p:cNvPicPr>
            <a:picLocks noChangeAspect="1"/>
          </p:cNvPicPr>
          <p:nvPr/>
        </p:nvPicPr>
        <p:blipFill>
          <a:blip r:embed="rId1"/>
          <a:stretch>
            <a:fillRect/>
          </a:stretch>
        </p:blipFill>
        <p:spPr>
          <a:xfrm>
            <a:off x="609600" y="3400425"/>
            <a:ext cx="171450" cy="200025"/>
          </a:xfrm>
          <a:prstGeom prst="rect">
            <a:avLst/>
          </a:prstGeom>
        </p:spPr>
      </p:pic>
      <p:pic>
        <p:nvPicPr>
          <p:cNvPr id="8" name="Picture 7" descr="image.png"/>
          <p:cNvPicPr>
            <a:picLocks noChangeAspect="1"/>
          </p:cNvPicPr>
          <p:nvPr/>
        </p:nvPicPr>
        <p:blipFill>
          <a:blip r:embed="rId1"/>
          <a:stretch>
            <a:fillRect/>
          </a:stretch>
        </p:blipFill>
        <p:spPr>
          <a:xfrm>
            <a:off x="609600" y="3781425"/>
            <a:ext cx="171450" cy="200025"/>
          </a:xfrm>
          <a:prstGeom prst="rect">
            <a:avLst/>
          </a:prstGeom>
        </p:spPr>
      </p:pic>
      <p:sp>
        <p:nvSpPr>
          <p:cNvPr id="9" name="TextBox 8"/>
          <p:cNvSpPr txBox="1"/>
          <p:nvPr/>
        </p:nvSpPr>
        <p:spPr>
          <a:xfrm>
            <a:off x="609600" y="1738312"/>
            <a:ext cx="6619875" cy="200025"/>
          </a:xfrm>
          <a:prstGeom prst="rect">
            <a:avLst/>
          </a:prstGeom>
          <a:noFill/>
        </p:spPr>
        <p:txBody>
          <a:bodyPr wrap="none" lIns="0" tIns="0" rIns="0" bIns="0" anchor="t">
            <a:spAutoFit/>
          </a:bodyPr>
          <a:lstStyle/>
          <a:p>
            <a:pPr algn="l"/>
            <a:r>
              <a:rPr sz="1350" b="0" i="0" u="none">
                <a:solidFill>
                  <a:srgbClr val="64748B"/>
                </a:solidFill>
                <a:latin typeface="Inter"/>
              </a:rPr>
              <a:t>CO1</a:t>
            </a:r>
            <a:endParaRPr sz="1350" b="0" i="0" u="none">
              <a:solidFill>
                <a:srgbClr val="64748B"/>
              </a:solidFill>
              <a:latin typeface="Inter"/>
            </a:endParaRPr>
          </a:p>
        </p:txBody>
      </p:sp>
      <p:sp>
        <p:nvSpPr>
          <p:cNvPr id="10" name="TextBox 9"/>
          <p:cNvSpPr txBox="1"/>
          <p:nvPr/>
        </p:nvSpPr>
        <p:spPr>
          <a:xfrm>
            <a:off x="609600" y="1938337"/>
            <a:ext cx="6950868" cy="438150"/>
          </a:xfrm>
          <a:prstGeom prst="rect">
            <a:avLst/>
          </a:prstGeom>
          <a:noFill/>
        </p:spPr>
        <p:txBody>
          <a:bodyPr wrap="none" lIns="0" tIns="0" rIns="0" bIns="0" anchor="t">
            <a:spAutoFit/>
          </a:bodyPr>
          <a:lstStyle/>
          <a:p>
            <a:pPr algn="l"/>
            <a:r>
              <a:rPr sz="2700" b="1" i="0" u="none">
                <a:solidFill>
                  <a:srgbClr val="0F172A"/>
                </a:solidFill>
                <a:latin typeface="Space Grotesk"/>
              </a:rPr>
              <a:t>Java Foundations</a:t>
            </a:r>
            <a:endParaRPr sz="2700" b="1" i="0" u="none">
              <a:solidFill>
                <a:srgbClr val="0F172A"/>
              </a:solidFill>
              <a:latin typeface="Space Grotesk"/>
            </a:endParaRPr>
          </a:p>
        </p:txBody>
      </p:sp>
      <p:sp>
        <p:nvSpPr>
          <p:cNvPr id="11" name="TextBox 10"/>
          <p:cNvSpPr txBox="1"/>
          <p:nvPr/>
        </p:nvSpPr>
        <p:spPr>
          <a:xfrm>
            <a:off x="6591300" y="2628900"/>
            <a:ext cx="4781550" cy="1615440"/>
          </a:xfrm>
          <a:prstGeom prst="rect">
            <a:avLst/>
          </a:prstGeom>
          <a:noFill/>
        </p:spPr>
        <p:txBody>
          <a:bodyPr wrap="square" lIns="0" tIns="0" rIns="0" bIns="0" anchor="t">
            <a:spAutoFit/>
          </a:bodyPr>
          <a:lstStyle/>
          <a:p>
            <a:pPr algn="l">
              <a:lnSpc>
                <a:spcPts val="1800"/>
              </a:lnSpc>
            </a:pPr>
            <a:r>
              <a:rPr sz="1200" b="0" i="0" u="none">
                <a:solidFill>
                  <a:srgbClr val="FCD34D"/>
                </a:solidFill>
                <a:latin typeface="Fira Code"/>
              </a:rPr>
              <a:t>Scanner</a:t>
            </a:r>
            <a:r>
              <a:rPr sz="1200" b="0" i="0" u="none">
                <a:solidFill>
                  <a:srgbClr val="E2E8F0"/>
                </a:solidFill>
                <a:latin typeface="Fira Code"/>
              </a:rPr>
              <a:t> sc = </a:t>
            </a:r>
            <a:r>
              <a:rPr sz="1200" b="0" i="0" u="none">
                <a:solidFill>
                  <a:srgbClr val="93C5FD"/>
                </a:solidFill>
                <a:latin typeface="Fira Code"/>
              </a:rPr>
              <a:t>new</a:t>
            </a:r>
            <a:r>
              <a:rPr sz="1200" b="0" i="0" u="none">
                <a:solidFill>
                  <a:srgbClr val="E2E8F0"/>
                </a:solidFill>
                <a:latin typeface="Fira Code"/>
              </a:rPr>
              <a:t> </a:t>
            </a:r>
            <a:r>
              <a:rPr sz="1200" b="0" i="0" u="none">
                <a:solidFill>
                  <a:srgbClr val="FCD34D"/>
                </a:solidFill>
                <a:latin typeface="Fira Code"/>
              </a:rPr>
              <a:t>Scanner</a:t>
            </a:r>
            <a:r>
              <a:rPr sz="1200" b="0" i="0" u="none">
                <a:solidFill>
                  <a:srgbClr val="E2E8F0"/>
                </a:solidFill>
                <a:latin typeface="Fira Code"/>
              </a:rPr>
              <a:t>(System.in); </a:t>
            </a:r>
            <a:endParaRPr sz="1200" b="0" i="0" u="none">
              <a:solidFill>
                <a:srgbClr val="E2E8F0"/>
              </a:solidFill>
              <a:latin typeface="Fira Code"/>
            </a:endParaRPr>
          </a:p>
          <a:p>
            <a:pPr algn="l">
              <a:lnSpc>
                <a:spcPts val="1800"/>
              </a:lnSpc>
            </a:pPr>
            <a:r>
              <a:rPr sz="1200" b="0" i="0" u="none">
                <a:solidFill>
                  <a:srgbClr val="FCD34D"/>
                </a:solidFill>
                <a:latin typeface="Fira Code"/>
              </a:rPr>
              <a:t>double</a:t>
            </a:r>
            <a:r>
              <a:rPr sz="1200" b="0" i="0" u="none">
                <a:solidFill>
                  <a:srgbClr val="E2E8F0"/>
                </a:solidFill>
                <a:latin typeface="Fira Code"/>
              </a:rPr>
              <a:t> balance = </a:t>
            </a:r>
            <a:r>
              <a:rPr sz="1200" b="0" i="0" u="none">
                <a:solidFill>
                  <a:srgbClr val="FCD34D"/>
                </a:solidFill>
                <a:latin typeface="Fira Code"/>
              </a:rPr>
              <a:t>10000.00</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E2E8F0"/>
                </a:solidFill>
                <a:latin typeface="Fira Code"/>
              </a:rPr>
              <a:t>System.out.print(</a:t>
            </a:r>
            <a:r>
              <a:rPr sz="1200" b="0" i="0" u="none">
                <a:solidFill>
                  <a:srgbClr val="A7F3D0"/>
                </a:solidFill>
                <a:latin typeface="Fira Code"/>
              </a:rPr>
              <a:t>"Enter PIN: "</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FCD34D"/>
                </a:solidFill>
                <a:latin typeface="Fira Code"/>
              </a:rPr>
              <a:t>int</a:t>
            </a:r>
            <a:r>
              <a:rPr sz="1200" b="0" i="0" u="none">
                <a:solidFill>
                  <a:srgbClr val="E2E8F0"/>
                </a:solidFill>
                <a:latin typeface="Fira Code"/>
              </a:rPr>
              <a:t> enteredPin = sc.nextInt(); </a:t>
            </a:r>
            <a:endParaRPr sz="1200" b="0" i="0" u="none">
              <a:solidFill>
                <a:srgbClr val="E2E8F0"/>
              </a:solidFill>
              <a:latin typeface="Fira Code"/>
            </a:endParaRPr>
          </a:p>
          <a:p>
            <a:pPr algn="l">
              <a:lnSpc>
                <a:spcPts val="1800"/>
              </a:lnSpc>
            </a:pPr>
            <a:r>
              <a:rPr lang="en-US" sz="1200" b="0" i="0" u="none">
                <a:solidFill>
                  <a:schemeClr val="tx2">
                    <a:lumMod val="40000"/>
                    <a:lumOff val="60000"/>
                  </a:schemeClr>
                </a:solidFill>
                <a:latin typeface="Fira Code"/>
              </a:rPr>
              <a:t>if </a:t>
            </a:r>
            <a:r>
              <a:rPr lang="en-US" sz="1200" b="0" i="0" u="none">
                <a:solidFill>
                  <a:schemeClr val="bg1"/>
                </a:solidFill>
                <a:latin typeface="Fira Code"/>
              </a:rPr>
              <a:t>(enteredPin != validPIN)</a:t>
            </a:r>
            <a:r>
              <a:rPr lang="en-US" sz="1200" b="0" i="0" u="none">
                <a:solidFill>
                  <a:schemeClr val="tx2">
                    <a:lumMod val="40000"/>
                    <a:lumOff val="60000"/>
                  </a:schemeClr>
                </a:solidFill>
                <a:latin typeface="Fira Code"/>
              </a:rPr>
              <a:t> </a:t>
            </a:r>
            <a:r>
              <a:rPr lang="en-US" sz="1200" b="0" i="0" u="none">
                <a:solidFill>
                  <a:schemeClr val="bg1"/>
                </a:solidFill>
                <a:latin typeface="Fira Code"/>
              </a:rPr>
              <a:t>{</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System.out.println(</a:t>
            </a:r>
            <a:r>
              <a:rPr sz="1200" b="0" i="0" u="none">
                <a:solidFill>
                  <a:srgbClr val="A7F3D0"/>
                </a:solidFill>
                <a:latin typeface="Fira Code"/>
              </a:rPr>
              <a:t>"</a:t>
            </a:r>
            <a:r>
              <a:rPr lang="en-US" sz="1200" b="0" i="0" u="none">
                <a:solidFill>
                  <a:srgbClr val="A7F3D0"/>
                </a:solidFill>
                <a:latin typeface="Fira Code"/>
              </a:rPr>
              <a:t>Incorrect </a:t>
            </a:r>
            <a:r>
              <a:rPr sz="1200" b="0" i="0" u="none">
                <a:solidFill>
                  <a:srgbClr val="A7F3D0"/>
                </a:solidFill>
                <a:latin typeface="Fira Code"/>
              </a:rPr>
              <a:t>PIN"</a:t>
            </a:r>
            <a:r>
              <a:rPr sz="1200" b="0" i="0" u="none">
                <a:solidFill>
                  <a:srgbClr val="E2E8F0"/>
                </a:solidFill>
                <a:latin typeface="Fira Code"/>
              </a:rPr>
              <a:t>);</a:t>
            </a:r>
            <a:endParaRPr sz="1200" b="0" i="0" u="none">
              <a:solidFill>
                <a:srgbClr val="E2E8F0"/>
              </a:solidFill>
              <a:latin typeface="Fira Code"/>
            </a:endParaRPr>
          </a:p>
          <a:p>
            <a:pPr algn="l">
              <a:lnSpc>
                <a:spcPts val="1800"/>
              </a:lnSpc>
            </a:pPr>
            <a:r>
              <a:rPr lang="en-US" sz="1200" b="0" i="0" u="none">
                <a:solidFill>
                  <a:srgbClr val="E2E8F0"/>
                </a:solidFill>
                <a:latin typeface="Fira Code"/>
              </a:rPr>
              <a:t>} </a:t>
            </a:r>
            <a:r>
              <a:rPr lang="en-US" sz="1200" b="0" i="0" u="none">
                <a:solidFill>
                  <a:schemeClr val="tx2">
                    <a:lumMod val="40000"/>
                    <a:lumOff val="60000"/>
                  </a:schemeClr>
                </a:solidFill>
                <a:latin typeface="Fira Code"/>
              </a:rPr>
              <a:t>else ...</a:t>
            </a:r>
            <a:endParaRPr lang="en-US" sz="1200" b="0" i="0" u="none">
              <a:solidFill>
                <a:schemeClr val="bg1"/>
              </a:solidFill>
              <a:latin typeface="Fira Code"/>
            </a:endParaRPr>
          </a:p>
        </p:txBody>
      </p:sp>
      <p:sp>
        <p:nvSpPr>
          <p:cNvPr id="12" name="TextBox 11"/>
          <p:cNvSpPr txBox="1"/>
          <p:nvPr/>
        </p:nvSpPr>
        <p:spPr>
          <a:xfrm>
            <a:off x="933450" y="2605087"/>
            <a:ext cx="6296025" cy="228600"/>
          </a:xfrm>
          <a:prstGeom prst="rect">
            <a:avLst/>
          </a:prstGeom>
          <a:noFill/>
        </p:spPr>
        <p:txBody>
          <a:bodyPr wrap="none" lIns="0" tIns="0" rIns="0" bIns="0" anchor="t">
            <a:spAutoFit/>
          </a:bodyPr>
          <a:lstStyle/>
          <a:p>
            <a:pPr algn="l"/>
            <a:r>
              <a:rPr sz="1500" b="1" i="0" u="none">
                <a:solidFill>
                  <a:srgbClr val="2563EB"/>
                </a:solidFill>
                <a:latin typeface="Inter"/>
              </a:rPr>
              <a:t>Scanner Class:</a:t>
            </a:r>
            <a:r>
              <a:rPr sz="1500" b="1" i="0" u="none">
                <a:solidFill>
                  <a:srgbClr val="2563EB"/>
                </a:solidFill>
                <a:latin typeface="Inter"/>
              </a:rPr>
              <a:t> Reads user input for PIN and amounts.</a:t>
            </a:r>
            <a:endParaRPr sz="1500" b="1" i="0" u="none">
              <a:solidFill>
                <a:srgbClr val="2563EB"/>
              </a:solidFill>
              <a:latin typeface="Inter"/>
            </a:endParaRPr>
          </a:p>
        </p:txBody>
      </p:sp>
      <p:sp>
        <p:nvSpPr>
          <p:cNvPr id="13" name="TextBox 12"/>
          <p:cNvSpPr txBox="1"/>
          <p:nvPr/>
        </p:nvSpPr>
        <p:spPr>
          <a:xfrm>
            <a:off x="933450" y="2986087"/>
            <a:ext cx="6296025" cy="228600"/>
          </a:xfrm>
          <a:prstGeom prst="rect">
            <a:avLst/>
          </a:prstGeom>
          <a:noFill/>
        </p:spPr>
        <p:txBody>
          <a:bodyPr wrap="none" lIns="0" tIns="0" rIns="0" bIns="0" anchor="t">
            <a:spAutoFit/>
          </a:bodyPr>
          <a:lstStyle/>
          <a:p>
            <a:pPr algn="l"/>
            <a:r>
              <a:rPr sz="1500" b="1" i="0" u="none">
                <a:solidFill>
                  <a:srgbClr val="2563EB"/>
                </a:solidFill>
                <a:latin typeface="Inter"/>
              </a:rPr>
              <a:t>Variables &amp; Constants:</a:t>
            </a:r>
            <a:r>
              <a:rPr sz="1500" b="1" i="0" u="none">
                <a:solidFill>
                  <a:srgbClr val="2563EB"/>
                </a:solidFill>
                <a:latin typeface="Inter"/>
              </a:rPr>
              <a:t> Manages balance and PIN data.</a:t>
            </a:r>
            <a:endParaRPr sz="1500" b="1" i="0" u="none">
              <a:solidFill>
                <a:srgbClr val="2563EB"/>
              </a:solidFill>
              <a:latin typeface="Inter"/>
            </a:endParaRPr>
          </a:p>
        </p:txBody>
      </p:sp>
      <p:sp>
        <p:nvSpPr>
          <p:cNvPr id="14" name="TextBox 13"/>
          <p:cNvSpPr txBox="1"/>
          <p:nvPr/>
        </p:nvSpPr>
        <p:spPr>
          <a:xfrm>
            <a:off x="933450" y="3367087"/>
            <a:ext cx="6296025" cy="228600"/>
          </a:xfrm>
          <a:prstGeom prst="rect">
            <a:avLst/>
          </a:prstGeom>
          <a:noFill/>
        </p:spPr>
        <p:txBody>
          <a:bodyPr wrap="none" lIns="0" tIns="0" rIns="0" bIns="0" anchor="t">
            <a:spAutoFit/>
          </a:bodyPr>
          <a:lstStyle/>
          <a:p>
            <a:pPr algn="l"/>
            <a:r>
              <a:rPr sz="1500" b="1" i="0" u="none">
                <a:solidFill>
                  <a:srgbClr val="2563EB"/>
                </a:solidFill>
                <a:latin typeface="Inter"/>
              </a:rPr>
              <a:t>Data Types:</a:t>
            </a:r>
            <a:r>
              <a:rPr sz="1500" b="1" i="0" u="none">
                <a:solidFill>
                  <a:srgbClr val="2563EB"/>
                </a:solidFill>
                <a:latin typeface="Inter"/>
              </a:rPr>
              <a:t> Utilizes int, double, and boolean.</a:t>
            </a:r>
            <a:endParaRPr sz="1500" b="1" i="0" u="none">
              <a:solidFill>
                <a:srgbClr val="2563EB"/>
              </a:solidFill>
              <a:latin typeface="Inter"/>
            </a:endParaRPr>
          </a:p>
        </p:txBody>
      </p:sp>
      <p:sp>
        <p:nvSpPr>
          <p:cNvPr id="15" name="TextBox 14"/>
          <p:cNvSpPr txBox="1"/>
          <p:nvPr/>
        </p:nvSpPr>
        <p:spPr>
          <a:xfrm>
            <a:off x="933450" y="3748087"/>
            <a:ext cx="6296025" cy="228600"/>
          </a:xfrm>
          <a:prstGeom prst="rect">
            <a:avLst/>
          </a:prstGeom>
          <a:noFill/>
        </p:spPr>
        <p:txBody>
          <a:bodyPr wrap="none" lIns="0" tIns="0" rIns="0" bIns="0" anchor="t">
            <a:spAutoFit/>
          </a:bodyPr>
          <a:lstStyle/>
          <a:p>
            <a:pPr algn="l"/>
            <a:r>
              <a:rPr sz="1500" b="1" i="0" u="none">
                <a:solidFill>
                  <a:srgbClr val="2563EB"/>
                </a:solidFill>
                <a:latin typeface="Inter"/>
              </a:rPr>
              <a:t>Operators:</a:t>
            </a:r>
            <a:r>
              <a:rPr sz="1500" b="1" i="0" u="none">
                <a:solidFill>
                  <a:srgbClr val="2563EB"/>
                </a:solidFill>
                <a:latin typeface="Inter"/>
              </a:rPr>
              <a:t> Arithmetic and comparison validation.</a:t>
            </a:r>
            <a:endParaRPr sz="1500" b="1" i="0" u="none">
              <a:solidFill>
                <a:srgbClr val="2563EB"/>
              </a:solidFill>
              <a:latin typeface="Inter"/>
            </a:endParaRPr>
          </a:p>
        </p:txBody>
      </p:sp>
      <p:sp>
        <p:nvSpPr>
          <p:cNvPr id="16" name="TextBox 15"/>
          <p:cNvSpPr txBox="1"/>
          <p:nvPr/>
        </p:nvSpPr>
        <p:spPr>
          <a:xfrm>
            <a:off x="876300" y="4510087"/>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Accepts user input and manages ATM data effectively via console.</a:t>
            </a:r>
            <a:endParaRPr sz="1200" b="0" i="0" u="none">
              <a:solidFill>
                <a:srgbClr val="1E3A8A"/>
              </a:solidFill>
              <a:latin typeface="Inter"/>
            </a:endParaRPr>
          </a:p>
        </p:txBody>
      </p:sp>
      <p:sp>
        <p:nvSpPr>
          <p:cNvPr id="17" name="TextBox 6"/>
          <p:cNvSpPr txBox="1"/>
          <p:nvPr/>
        </p:nvSpPr>
        <p:spPr>
          <a:xfrm>
            <a:off x="6286500" y="1911985"/>
            <a:ext cx="5447030" cy="228600"/>
          </a:xfrm>
          <a:prstGeom prst="rect">
            <a:avLst/>
          </a:prstGeom>
          <a:noFill/>
        </p:spPr>
        <p:txBody>
          <a:bodyPr wrap="none" lIns="0" tIns="0" rIns="0" bIns="0" anchor="t">
            <a:noAutofit/>
          </a:bodyPr>
          <a:lstStyle/>
          <a:p>
            <a:pPr algn="l"/>
            <a:endParaRPr sz="1350" b="0" i="0" u="none">
              <a:solidFill>
                <a:srgbClr val="64748B"/>
              </a:solidFill>
              <a:latin typeface="Inter"/>
            </a:endParaRPr>
          </a:p>
        </p:txBody>
      </p:sp>
      <p:pic>
        <p:nvPicPr>
          <p:cNvPr id="18" name="Picture 17"/>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319587"/>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1638300"/>
            <a:ext cx="5295900" cy="3581400"/>
          </a:xfrm>
          <a:prstGeom prst="roundRect">
            <a:avLst>
              <a:gd name="adj" fmla="val 319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319587"/>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600325"/>
            <a:ext cx="171450" cy="200025"/>
          </a:xfrm>
          <a:prstGeom prst="rect">
            <a:avLst/>
          </a:prstGeom>
        </p:spPr>
      </p:pic>
      <p:pic>
        <p:nvPicPr>
          <p:cNvPr id="6" name="Picture 5" descr="image.png"/>
          <p:cNvPicPr>
            <a:picLocks noChangeAspect="1"/>
          </p:cNvPicPr>
          <p:nvPr/>
        </p:nvPicPr>
        <p:blipFill>
          <a:blip r:embed="rId1"/>
          <a:stretch>
            <a:fillRect/>
          </a:stretch>
        </p:blipFill>
        <p:spPr>
          <a:xfrm>
            <a:off x="609600" y="3209925"/>
            <a:ext cx="171450" cy="200025"/>
          </a:xfrm>
          <a:prstGeom prst="rect">
            <a:avLst/>
          </a:prstGeom>
        </p:spPr>
      </p:pic>
      <p:pic>
        <p:nvPicPr>
          <p:cNvPr id="7" name="Picture 6" descr="image.png"/>
          <p:cNvPicPr>
            <a:picLocks noChangeAspect="1"/>
          </p:cNvPicPr>
          <p:nvPr/>
        </p:nvPicPr>
        <p:blipFill>
          <a:blip r:embed="rId1"/>
          <a:stretch>
            <a:fillRect/>
          </a:stretch>
        </p:blipFill>
        <p:spPr>
          <a:xfrm>
            <a:off x="609600" y="3590925"/>
            <a:ext cx="171450" cy="200025"/>
          </a:xfrm>
          <a:prstGeom prst="rect">
            <a:avLst/>
          </a:prstGeom>
        </p:spPr>
      </p:pic>
      <p:sp>
        <p:nvSpPr>
          <p:cNvPr id="8" name="TextBox 7"/>
          <p:cNvSpPr txBox="1"/>
          <p:nvPr/>
        </p:nvSpPr>
        <p:spPr>
          <a:xfrm>
            <a:off x="609600" y="1700212"/>
            <a:ext cx="6619875" cy="200025"/>
          </a:xfrm>
          <a:prstGeom prst="rect">
            <a:avLst/>
          </a:prstGeom>
          <a:noFill/>
        </p:spPr>
        <p:txBody>
          <a:bodyPr wrap="none" lIns="0" tIns="0" rIns="0" bIns="0" anchor="t">
            <a:spAutoFit/>
          </a:bodyPr>
          <a:lstStyle/>
          <a:p>
            <a:pPr algn="l"/>
            <a:r>
              <a:rPr sz="1350" b="0" i="0" u="none">
                <a:solidFill>
                  <a:srgbClr val="64748B"/>
                </a:solidFill>
                <a:latin typeface="Inter"/>
              </a:rPr>
              <a:t>CO2</a:t>
            </a:r>
            <a:endParaRPr sz="1350" b="0" i="0" u="none">
              <a:solidFill>
                <a:srgbClr val="64748B"/>
              </a:solidFill>
              <a:latin typeface="Inter"/>
            </a:endParaRPr>
          </a:p>
        </p:txBody>
      </p:sp>
      <p:sp>
        <p:nvSpPr>
          <p:cNvPr id="9" name="TextBox 8"/>
          <p:cNvSpPr txBox="1"/>
          <p:nvPr/>
        </p:nvSpPr>
        <p:spPr>
          <a:xfrm>
            <a:off x="609600" y="1900237"/>
            <a:ext cx="6950868" cy="438150"/>
          </a:xfrm>
          <a:prstGeom prst="rect">
            <a:avLst/>
          </a:prstGeom>
          <a:noFill/>
        </p:spPr>
        <p:txBody>
          <a:bodyPr wrap="none" lIns="0" tIns="0" rIns="0" bIns="0" anchor="t">
            <a:spAutoFit/>
          </a:bodyPr>
          <a:lstStyle/>
          <a:p>
            <a:pPr algn="l"/>
            <a:r>
              <a:rPr sz="2700" b="1" i="0" u="none">
                <a:solidFill>
                  <a:srgbClr val="0F172A"/>
                </a:solidFill>
                <a:latin typeface="Space Grotesk"/>
              </a:rPr>
              <a:t>Control Flow Concepts</a:t>
            </a:r>
            <a:endParaRPr sz="2700" b="1" i="0" u="none">
              <a:solidFill>
                <a:srgbClr val="0F172A"/>
              </a:solidFill>
              <a:latin typeface="Space Grotesk"/>
            </a:endParaRPr>
          </a:p>
        </p:txBody>
      </p:sp>
      <p:sp>
        <p:nvSpPr>
          <p:cNvPr id="10" name="TextBox 9"/>
          <p:cNvSpPr txBox="1"/>
          <p:nvPr/>
        </p:nvSpPr>
        <p:spPr>
          <a:xfrm>
            <a:off x="6420485" y="1943100"/>
            <a:ext cx="5066665" cy="2952750"/>
          </a:xfrm>
          <a:prstGeom prst="rect">
            <a:avLst/>
          </a:prstGeom>
          <a:noFill/>
        </p:spPr>
        <p:txBody>
          <a:bodyPr wrap="square" lIns="0" tIns="0" rIns="0" bIns="0" anchor="t">
            <a:noAutofit/>
          </a:bodyPr>
          <a:lstStyle/>
          <a:p>
            <a:pPr algn="l">
              <a:lnSpc>
                <a:spcPts val="1800"/>
              </a:lnSpc>
            </a:pPr>
            <a:r>
              <a:rPr lang="en-US" sz="1200">
                <a:solidFill>
                  <a:srgbClr val="93C5FD"/>
                </a:solidFill>
                <a:latin typeface="Fira Code"/>
                <a:sym typeface="+mn-ea"/>
              </a:rPr>
              <a:t>if </a:t>
            </a:r>
            <a:r>
              <a:rPr lang="en-US" sz="1200">
                <a:solidFill>
                  <a:schemeClr val="bg1"/>
                </a:solidFill>
                <a:latin typeface="Fira Code"/>
                <a:sym typeface="+mn-ea"/>
              </a:rPr>
              <a:t>(amount &lt;= 0) {</a:t>
            </a:r>
            <a:endParaRPr lang="en-US" sz="1200">
              <a:solidFill>
                <a:srgbClr val="93C5FD"/>
              </a:solidFill>
              <a:latin typeface="Fira Code"/>
              <a:sym typeface="+mn-ea"/>
            </a:endParaRPr>
          </a:p>
          <a:p>
            <a:pPr indent="457200" algn="l">
              <a:lnSpc>
                <a:spcPts val="1800"/>
              </a:lnSpc>
            </a:pPr>
            <a:r>
              <a:rPr lang="en-US" sz="1200">
                <a:solidFill>
                  <a:schemeClr val="bg1"/>
                </a:solidFill>
                <a:latin typeface="Fira Code"/>
                <a:sym typeface="+mn-ea"/>
              </a:rPr>
              <a:t>System.out.println(“Invalid withdrawal amount.”);</a:t>
            </a:r>
            <a:endParaRPr lang="en-US" sz="1200">
              <a:solidFill>
                <a:srgbClr val="93C5FD"/>
              </a:solidFill>
              <a:latin typeface="Fira Code"/>
              <a:sym typeface="+mn-ea"/>
            </a:endParaRPr>
          </a:p>
          <a:p>
            <a:pPr algn="l">
              <a:lnSpc>
                <a:spcPts val="1800"/>
              </a:lnSpc>
            </a:pPr>
            <a:r>
              <a:rPr lang="en-US" sz="1200">
                <a:solidFill>
                  <a:schemeClr val="bg1"/>
                </a:solidFill>
                <a:latin typeface="Fira Code"/>
                <a:sym typeface="+mn-ea"/>
              </a:rPr>
              <a:t>}</a:t>
            </a:r>
            <a:r>
              <a:rPr lang="en-US" sz="1200">
                <a:solidFill>
                  <a:srgbClr val="93C5FD"/>
                </a:solidFill>
                <a:latin typeface="Fira Code"/>
                <a:sym typeface="+mn-ea"/>
              </a:rPr>
              <a:t> </a:t>
            </a:r>
            <a:r>
              <a:rPr lang="en-US" sz="1200">
                <a:solidFill>
                  <a:schemeClr val="accent2">
                    <a:lumMod val="60000"/>
                    <a:lumOff val="40000"/>
                  </a:schemeClr>
                </a:solidFill>
                <a:latin typeface="Fira Code"/>
                <a:sym typeface="+mn-ea"/>
              </a:rPr>
              <a:t>else</a:t>
            </a:r>
            <a:r>
              <a:rPr lang="en-US" sz="1200">
                <a:solidFill>
                  <a:srgbClr val="93C5FD"/>
                </a:solidFill>
                <a:latin typeface="Fira Code"/>
                <a:sym typeface="+mn-ea"/>
              </a:rPr>
              <a:t> if </a:t>
            </a:r>
            <a:r>
              <a:rPr lang="en-US" sz="1200">
                <a:solidFill>
                  <a:schemeClr val="bg1"/>
                </a:solidFill>
                <a:latin typeface="Fira Code"/>
                <a:sym typeface="+mn-ea"/>
              </a:rPr>
              <a:t>(amount &gt; balance)</a:t>
            </a:r>
            <a:r>
              <a:rPr lang="en-US" sz="1200">
                <a:solidFill>
                  <a:srgbClr val="93C5FD"/>
                </a:solidFill>
                <a:latin typeface="Fira Code"/>
                <a:sym typeface="+mn-ea"/>
              </a:rPr>
              <a:t> {</a:t>
            </a:r>
            <a:endParaRPr lang="en-US" sz="1200">
              <a:solidFill>
                <a:srgbClr val="93C5FD"/>
              </a:solidFill>
              <a:latin typeface="Fira Code"/>
              <a:sym typeface="+mn-ea"/>
            </a:endParaRPr>
          </a:p>
          <a:p>
            <a:pPr indent="457200" algn="l">
              <a:lnSpc>
                <a:spcPts val="1800"/>
              </a:lnSpc>
            </a:pPr>
            <a:r>
              <a:rPr lang="en-US" sz="1200">
                <a:solidFill>
                  <a:schemeClr val="bg1"/>
                </a:solidFill>
                <a:latin typeface="Fira Code"/>
                <a:sym typeface="+mn-ea"/>
              </a:rPr>
              <a:t>System.out.println(“Insufficient balance.”);</a:t>
            </a:r>
            <a:endParaRPr lang="en-US" sz="1200">
              <a:solidFill>
                <a:srgbClr val="93C5FD"/>
              </a:solidFill>
              <a:latin typeface="Fira Code"/>
              <a:sym typeface="+mn-ea"/>
            </a:endParaRPr>
          </a:p>
          <a:p>
            <a:pPr algn="l">
              <a:lnSpc>
                <a:spcPts val="1800"/>
              </a:lnSpc>
            </a:pPr>
            <a:r>
              <a:rPr lang="en-US" sz="1200">
                <a:solidFill>
                  <a:schemeClr val="bg1"/>
                </a:solidFill>
                <a:latin typeface="Fira Code"/>
                <a:sym typeface="+mn-ea"/>
              </a:rPr>
              <a:t>}</a:t>
            </a:r>
            <a:endParaRPr lang="en-US" sz="1200">
              <a:solidFill>
                <a:srgbClr val="93C5FD"/>
              </a:solidFill>
              <a:latin typeface="Fira Code"/>
              <a:sym typeface="+mn-ea"/>
            </a:endParaRPr>
          </a:p>
          <a:p>
            <a:pPr algn="l">
              <a:lnSpc>
                <a:spcPts val="1800"/>
              </a:lnSpc>
            </a:pPr>
            <a:endParaRPr lang="en-US" sz="1200">
              <a:solidFill>
                <a:srgbClr val="93C5FD"/>
              </a:solidFill>
              <a:latin typeface="Fira Code"/>
              <a:sym typeface="+mn-ea"/>
            </a:endParaRPr>
          </a:p>
          <a:p>
            <a:pPr algn="l">
              <a:lnSpc>
                <a:spcPts val="1800"/>
              </a:lnSpc>
            </a:pPr>
            <a:r>
              <a:rPr lang="en-US" sz="1200">
                <a:solidFill>
                  <a:schemeClr val="accent2">
                    <a:lumMod val="60000"/>
                    <a:lumOff val="40000"/>
                  </a:schemeClr>
                </a:solidFill>
                <a:latin typeface="Fira Code"/>
                <a:sym typeface="+mn-ea"/>
              </a:rPr>
              <a:t>while</a:t>
            </a:r>
            <a:r>
              <a:rPr lang="en-US" sz="1200">
                <a:solidFill>
                  <a:schemeClr val="bg1"/>
                </a:solidFill>
                <a:latin typeface="Fira Code"/>
                <a:sym typeface="+mn-ea"/>
              </a:rPr>
              <a:t>(choice != 5)</a:t>
            </a:r>
            <a:r>
              <a:rPr lang="en-US" sz="1200">
                <a:solidFill>
                  <a:srgbClr val="93C5FD"/>
                </a:solidFill>
                <a:latin typeface="Fira Code"/>
                <a:sym typeface="+mn-ea"/>
              </a:rPr>
              <a:t> </a:t>
            </a:r>
            <a:r>
              <a:rPr lang="en-US" sz="1200">
                <a:solidFill>
                  <a:schemeClr val="bg1"/>
                </a:solidFill>
                <a:latin typeface="Fira Code"/>
                <a:sym typeface="+mn-ea"/>
              </a:rPr>
              <a:t>{</a:t>
            </a:r>
            <a:endParaRPr lang="en-US" sz="1200">
              <a:solidFill>
                <a:srgbClr val="93C5FD"/>
              </a:solidFill>
              <a:latin typeface="Fira Code"/>
              <a:sym typeface="+mn-ea"/>
            </a:endParaRPr>
          </a:p>
          <a:p>
            <a:pPr indent="457200" algn="l">
              <a:lnSpc>
                <a:spcPts val="1800"/>
              </a:lnSpc>
            </a:pPr>
            <a:r>
              <a:rPr lang="en-US" sz="1200">
                <a:solidFill>
                  <a:schemeClr val="accent2">
                    <a:lumMod val="60000"/>
                    <a:lumOff val="40000"/>
                  </a:schemeClr>
                </a:solidFill>
                <a:latin typeface="Fira Code"/>
                <a:sym typeface="+mn-ea"/>
              </a:rPr>
              <a:t>switch</a:t>
            </a:r>
            <a:r>
              <a:rPr lang="en-US" sz="1200">
                <a:solidFill>
                  <a:srgbClr val="93C5FD"/>
                </a:solidFill>
                <a:latin typeface="Fira Code"/>
                <a:sym typeface="+mn-ea"/>
              </a:rPr>
              <a:t> </a:t>
            </a:r>
            <a:r>
              <a:rPr lang="en-US" sz="1200">
                <a:solidFill>
                  <a:schemeClr val="bg1"/>
                </a:solidFill>
                <a:latin typeface="Fira Code"/>
                <a:sym typeface="+mn-ea"/>
              </a:rPr>
              <a:t>(choice)</a:t>
            </a:r>
            <a:r>
              <a:rPr lang="en-US" sz="1200">
                <a:solidFill>
                  <a:srgbClr val="93C5FD"/>
                </a:solidFill>
                <a:latin typeface="Fira Code"/>
                <a:sym typeface="+mn-ea"/>
              </a:rPr>
              <a:t> </a:t>
            </a:r>
            <a:r>
              <a:rPr lang="en-US" sz="1200">
                <a:solidFill>
                  <a:schemeClr val="bg1"/>
                </a:solidFill>
                <a:latin typeface="Fira Code"/>
                <a:sym typeface="+mn-ea"/>
              </a:rPr>
              <a:t>{</a:t>
            </a:r>
            <a:endParaRPr lang="en-US" sz="1200">
              <a:solidFill>
                <a:srgbClr val="93C5FD"/>
              </a:solidFill>
              <a:latin typeface="Fira Code"/>
              <a:sym typeface="+mn-ea"/>
            </a:endParaRPr>
          </a:p>
          <a:p>
            <a:pPr marL="457200" lvl="1" indent="457200" algn="l">
              <a:lnSpc>
                <a:spcPts val="1800"/>
              </a:lnSpc>
            </a:pPr>
            <a:r>
              <a:rPr lang="en-US" sz="1200">
                <a:solidFill>
                  <a:srgbClr val="93C5FD"/>
                </a:solidFill>
                <a:latin typeface="Fira Code"/>
                <a:sym typeface="+mn-ea"/>
              </a:rPr>
              <a:t>case </a:t>
            </a:r>
            <a:r>
              <a:rPr lang="en-US" sz="1200">
                <a:solidFill>
                  <a:schemeClr val="bg1"/>
                </a:solidFill>
                <a:latin typeface="Fira Code"/>
                <a:sym typeface="+mn-ea"/>
              </a:rPr>
              <a:t>1:</a:t>
            </a:r>
            <a:endParaRPr lang="en-US" sz="1200">
              <a:solidFill>
                <a:srgbClr val="93C5FD"/>
              </a:solidFill>
              <a:latin typeface="Fira Code"/>
              <a:sym typeface="+mn-ea"/>
            </a:endParaRPr>
          </a:p>
          <a:p>
            <a:pPr marL="457200" lvl="1" indent="457200" algn="l">
              <a:lnSpc>
                <a:spcPts val="1800"/>
              </a:lnSpc>
            </a:pPr>
            <a:r>
              <a:rPr lang="en-US" sz="1200">
                <a:solidFill>
                  <a:schemeClr val="bg1"/>
                </a:solidFill>
                <a:latin typeface="Fira Code"/>
                <a:sym typeface="+mn-ea"/>
              </a:rPr>
              <a:t>checkBalance(balance);</a:t>
            </a:r>
            <a:endParaRPr lang="en-US" sz="1200">
              <a:solidFill>
                <a:srgbClr val="93C5FD"/>
              </a:solidFill>
              <a:latin typeface="Fira Code"/>
              <a:sym typeface="+mn-ea"/>
            </a:endParaRPr>
          </a:p>
          <a:p>
            <a:pPr marL="457200" lvl="1" indent="457200" algn="l">
              <a:lnSpc>
                <a:spcPts val="1800"/>
              </a:lnSpc>
            </a:pPr>
            <a:r>
              <a:rPr lang="en-US" sz="1200">
                <a:solidFill>
                  <a:schemeClr val="accent2">
                    <a:lumMod val="60000"/>
                    <a:lumOff val="40000"/>
                  </a:schemeClr>
                </a:solidFill>
                <a:latin typeface="Fira Code"/>
                <a:sym typeface="+mn-ea"/>
              </a:rPr>
              <a:t>break</a:t>
            </a:r>
            <a:r>
              <a:rPr lang="en-US" sz="1200">
                <a:solidFill>
                  <a:schemeClr val="bg1"/>
                </a:solidFill>
                <a:latin typeface="Fira Code"/>
                <a:sym typeface="+mn-ea"/>
              </a:rPr>
              <a:t>;</a:t>
            </a:r>
            <a:endParaRPr lang="en-US" sz="1200">
              <a:solidFill>
                <a:srgbClr val="93C5FD"/>
              </a:solidFill>
              <a:latin typeface="Fira Code"/>
              <a:sym typeface="+mn-ea"/>
            </a:endParaRPr>
          </a:p>
          <a:p>
            <a:pPr indent="457200" algn="l">
              <a:lnSpc>
                <a:spcPts val="1800"/>
              </a:lnSpc>
            </a:pPr>
            <a:r>
              <a:rPr lang="en-US" sz="1200">
                <a:solidFill>
                  <a:schemeClr val="bg1"/>
                </a:solidFill>
                <a:latin typeface="Fira Code"/>
                <a:sym typeface="+mn-ea"/>
              </a:rPr>
              <a:t>}...</a:t>
            </a:r>
            <a:endParaRPr lang="en-US" sz="1200" b="0" i="0" u="none">
              <a:solidFill>
                <a:schemeClr val="bg1"/>
              </a:solidFill>
              <a:latin typeface="Fira Code"/>
              <a:sym typeface="+mn-ea"/>
            </a:endParaRPr>
          </a:p>
        </p:txBody>
      </p:sp>
      <p:sp>
        <p:nvSpPr>
          <p:cNvPr id="11" name="TextBox 10"/>
          <p:cNvSpPr txBox="1"/>
          <p:nvPr/>
        </p:nvSpPr>
        <p:spPr>
          <a:xfrm>
            <a:off x="933450" y="2566987"/>
            <a:ext cx="5067300" cy="457200"/>
          </a:xfrm>
          <a:prstGeom prst="rect">
            <a:avLst/>
          </a:prstGeom>
          <a:noFill/>
        </p:spPr>
        <p:txBody>
          <a:bodyPr wrap="square" lIns="0" tIns="0" rIns="0" bIns="0" anchor="t">
            <a:spAutoFit/>
          </a:bodyPr>
          <a:lstStyle/>
          <a:p>
            <a:pPr algn="l"/>
            <a:r>
              <a:rPr sz="1500" b="1" i="0" u="none">
                <a:solidFill>
                  <a:srgbClr val="2563EB"/>
                </a:solidFill>
                <a:latin typeface="Inter"/>
              </a:rPr>
              <a:t>if / else-if:</a:t>
            </a:r>
            <a:r>
              <a:rPr sz="1500" b="1" i="0" u="none">
                <a:solidFill>
                  <a:srgbClr val="2563EB"/>
                </a:solidFill>
                <a:latin typeface="Inter"/>
              </a:rPr>
              <a:t> Validates pins and checks for insufficient balance.</a:t>
            </a:r>
            <a:endParaRPr sz="1500" b="1" i="0" u="none">
              <a:solidFill>
                <a:srgbClr val="2563EB"/>
              </a:solidFill>
              <a:latin typeface="Inter"/>
            </a:endParaRPr>
          </a:p>
        </p:txBody>
      </p:sp>
      <p:sp>
        <p:nvSpPr>
          <p:cNvPr id="12" name="TextBox 11"/>
          <p:cNvSpPr txBox="1"/>
          <p:nvPr/>
        </p:nvSpPr>
        <p:spPr>
          <a:xfrm>
            <a:off x="933450" y="3176587"/>
            <a:ext cx="6296025" cy="228600"/>
          </a:xfrm>
          <a:prstGeom prst="rect">
            <a:avLst/>
          </a:prstGeom>
          <a:noFill/>
        </p:spPr>
        <p:txBody>
          <a:bodyPr wrap="none" lIns="0" tIns="0" rIns="0" bIns="0" anchor="t">
            <a:spAutoFit/>
          </a:bodyPr>
          <a:lstStyle/>
          <a:p>
            <a:pPr algn="l"/>
            <a:r>
              <a:rPr sz="1500" b="1" i="0" u="none">
                <a:solidFill>
                  <a:srgbClr val="2563EB"/>
                </a:solidFill>
                <a:latin typeface="Inter"/>
              </a:rPr>
              <a:t>switch-case:</a:t>
            </a:r>
            <a:r>
              <a:rPr sz="1500" b="1" i="0" u="none">
                <a:solidFill>
                  <a:srgbClr val="2563EB"/>
                </a:solidFill>
                <a:latin typeface="Inter"/>
              </a:rPr>
              <a:t> Handles dynamic ATM menu selections.</a:t>
            </a:r>
            <a:endParaRPr sz="1500" b="1" i="0" u="none">
              <a:solidFill>
                <a:srgbClr val="2563EB"/>
              </a:solidFill>
              <a:latin typeface="Inter"/>
            </a:endParaRPr>
          </a:p>
        </p:txBody>
      </p:sp>
      <p:sp>
        <p:nvSpPr>
          <p:cNvPr id="13" name="TextBox 12"/>
          <p:cNvSpPr txBox="1"/>
          <p:nvPr/>
        </p:nvSpPr>
        <p:spPr>
          <a:xfrm>
            <a:off x="933450" y="3557587"/>
            <a:ext cx="5067300" cy="457200"/>
          </a:xfrm>
          <a:prstGeom prst="rect">
            <a:avLst/>
          </a:prstGeom>
          <a:noFill/>
        </p:spPr>
        <p:txBody>
          <a:bodyPr wrap="square" lIns="0" tIns="0" rIns="0" bIns="0" anchor="t">
            <a:spAutoFit/>
          </a:bodyPr>
          <a:lstStyle/>
          <a:p>
            <a:pPr algn="l"/>
            <a:r>
              <a:rPr sz="1500" b="1" i="0" u="none">
                <a:solidFill>
                  <a:srgbClr val="2563EB"/>
                </a:solidFill>
                <a:latin typeface="Inter"/>
              </a:rPr>
              <a:t>while Loop:</a:t>
            </a:r>
            <a:r>
              <a:rPr sz="1500" b="1" i="0" u="none">
                <a:solidFill>
                  <a:srgbClr val="2563EB"/>
                </a:solidFill>
                <a:latin typeface="Inter"/>
              </a:rPr>
              <a:t> Sustains menu interface until exit command.</a:t>
            </a:r>
            <a:endParaRPr sz="1500" b="1" i="0" u="none">
              <a:solidFill>
                <a:srgbClr val="2563EB"/>
              </a:solidFill>
              <a:latin typeface="Inter"/>
            </a:endParaRPr>
          </a:p>
        </p:txBody>
      </p:sp>
      <p:sp>
        <p:nvSpPr>
          <p:cNvPr id="14" name="TextBox 13"/>
          <p:cNvSpPr txBox="1"/>
          <p:nvPr/>
        </p:nvSpPr>
        <p:spPr>
          <a:xfrm>
            <a:off x="876300" y="4548187"/>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Controls application logic, validating transactions safely.</a:t>
            </a:r>
            <a:endParaRPr sz="1200" b="0" i="0" u="none">
              <a:solidFill>
                <a:srgbClr val="1E3A8A"/>
              </a:solidFill>
              <a:latin typeface="Inter"/>
            </a:endParaRPr>
          </a:p>
        </p:txBody>
      </p:sp>
      <p:pic>
        <p:nvPicPr>
          <p:cNvPr id="15" name="Picture 14"/>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205287"/>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1866900"/>
            <a:ext cx="5532755" cy="3124200"/>
          </a:xfrm>
          <a:prstGeom prst="roundRect">
            <a:avLst>
              <a:gd name="adj" fmla="val 3658"/>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205287"/>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714625"/>
            <a:ext cx="219075" cy="200025"/>
          </a:xfrm>
          <a:prstGeom prst="rect">
            <a:avLst/>
          </a:prstGeom>
        </p:spPr>
      </p:pic>
      <p:pic>
        <p:nvPicPr>
          <p:cNvPr id="6" name="Picture 5" descr="image.png"/>
          <p:cNvPicPr>
            <a:picLocks noChangeAspect="1"/>
          </p:cNvPicPr>
          <p:nvPr/>
        </p:nvPicPr>
        <p:blipFill>
          <a:blip r:embed="rId1"/>
          <a:stretch>
            <a:fillRect/>
          </a:stretch>
        </p:blipFill>
        <p:spPr>
          <a:xfrm>
            <a:off x="609600" y="3095625"/>
            <a:ext cx="219075" cy="200025"/>
          </a:xfrm>
          <a:prstGeom prst="rect">
            <a:avLst/>
          </a:prstGeom>
        </p:spPr>
      </p:pic>
      <p:pic>
        <p:nvPicPr>
          <p:cNvPr id="7" name="Picture 6" descr="image.png"/>
          <p:cNvPicPr>
            <a:picLocks noChangeAspect="1"/>
          </p:cNvPicPr>
          <p:nvPr/>
        </p:nvPicPr>
        <p:blipFill>
          <a:blip r:embed="rId1"/>
          <a:stretch>
            <a:fillRect/>
          </a:stretch>
        </p:blipFill>
        <p:spPr>
          <a:xfrm>
            <a:off x="609600" y="3705225"/>
            <a:ext cx="219075" cy="200025"/>
          </a:xfrm>
          <a:prstGeom prst="rect">
            <a:avLst/>
          </a:prstGeom>
        </p:spPr>
      </p:pic>
      <p:sp>
        <p:nvSpPr>
          <p:cNvPr id="8" name="TextBox 7"/>
          <p:cNvSpPr txBox="1"/>
          <p:nvPr/>
        </p:nvSpPr>
        <p:spPr>
          <a:xfrm>
            <a:off x="609600" y="1814512"/>
            <a:ext cx="6619875" cy="200025"/>
          </a:xfrm>
          <a:prstGeom prst="rect">
            <a:avLst/>
          </a:prstGeom>
          <a:noFill/>
        </p:spPr>
        <p:txBody>
          <a:bodyPr wrap="none" lIns="0" tIns="0" rIns="0" bIns="0" anchor="t">
            <a:spAutoFit/>
          </a:bodyPr>
          <a:lstStyle/>
          <a:p>
            <a:pPr algn="l"/>
            <a:r>
              <a:rPr sz="1350" b="0" i="0" u="none">
                <a:solidFill>
                  <a:srgbClr val="64748B"/>
                </a:solidFill>
                <a:latin typeface="Inter"/>
              </a:rPr>
              <a:t>CO3</a:t>
            </a:r>
            <a:endParaRPr sz="1350" b="0" i="0" u="none">
              <a:solidFill>
                <a:srgbClr val="64748B"/>
              </a:solidFill>
              <a:latin typeface="Inter"/>
            </a:endParaRPr>
          </a:p>
        </p:txBody>
      </p:sp>
      <p:sp>
        <p:nvSpPr>
          <p:cNvPr id="9" name="TextBox 8"/>
          <p:cNvSpPr txBox="1"/>
          <p:nvPr/>
        </p:nvSpPr>
        <p:spPr>
          <a:xfrm>
            <a:off x="609600" y="2014537"/>
            <a:ext cx="6950868" cy="438150"/>
          </a:xfrm>
          <a:prstGeom prst="rect">
            <a:avLst/>
          </a:prstGeom>
          <a:noFill/>
        </p:spPr>
        <p:txBody>
          <a:bodyPr wrap="none" lIns="0" tIns="0" rIns="0" bIns="0" anchor="t">
            <a:spAutoFit/>
          </a:bodyPr>
          <a:lstStyle/>
          <a:p>
            <a:pPr algn="l"/>
            <a:r>
              <a:rPr sz="2700" b="1" i="0" u="none">
                <a:solidFill>
                  <a:srgbClr val="0F172A"/>
                </a:solidFill>
                <a:latin typeface="Space Grotesk"/>
              </a:rPr>
              <a:t>Methods &amp; Modular Structure</a:t>
            </a:r>
            <a:endParaRPr sz="2700" b="1" i="0" u="none">
              <a:solidFill>
                <a:srgbClr val="0F172A"/>
              </a:solidFill>
              <a:latin typeface="Space Grotesk"/>
            </a:endParaRPr>
          </a:p>
        </p:txBody>
      </p:sp>
      <p:sp>
        <p:nvSpPr>
          <p:cNvPr id="10" name="TextBox 9"/>
          <p:cNvSpPr txBox="1"/>
          <p:nvPr/>
        </p:nvSpPr>
        <p:spPr>
          <a:xfrm>
            <a:off x="6591300" y="2171700"/>
            <a:ext cx="5217795" cy="2244725"/>
          </a:xfrm>
          <a:prstGeom prst="rect">
            <a:avLst/>
          </a:prstGeom>
          <a:noFill/>
        </p:spPr>
        <p:txBody>
          <a:bodyPr wrap="square" lIns="0" tIns="0" rIns="0" bIns="0" anchor="t">
            <a:noAutofit/>
          </a:bodyPr>
          <a:lstStyle/>
          <a:p>
            <a:pPr algn="l">
              <a:lnSpc>
                <a:spcPts val="1800"/>
              </a:lnSpc>
            </a:pPr>
            <a:r>
              <a:rPr sz="1200" b="0" i="0" u="none">
                <a:solidFill>
                  <a:srgbClr val="93C5FD"/>
                </a:solidFill>
                <a:latin typeface="Fira Code"/>
              </a:rPr>
              <a:t>public static double</a:t>
            </a:r>
            <a:r>
              <a:rPr sz="1200" b="0" i="0" u="none">
                <a:solidFill>
                  <a:srgbClr val="E2E8F0"/>
                </a:solidFill>
                <a:latin typeface="Fira Code"/>
              </a:rPr>
              <a:t> depositMoney( </a:t>
            </a:r>
            <a:r>
              <a:rPr sz="1200" b="0" i="0" u="none">
                <a:solidFill>
                  <a:srgbClr val="FCD34D"/>
                </a:solidFill>
                <a:latin typeface="Fira Code"/>
              </a:rPr>
              <a:t>double</a:t>
            </a:r>
            <a:r>
              <a:rPr sz="1200" b="0" i="0" u="none">
                <a:solidFill>
                  <a:srgbClr val="E2E8F0"/>
                </a:solidFill>
                <a:latin typeface="Fira Code"/>
              </a:rPr>
              <a:t> balance, </a:t>
            </a:r>
            <a:r>
              <a:rPr sz="1200" b="0" i="0" u="none">
                <a:solidFill>
                  <a:srgbClr val="FCD34D"/>
                </a:solidFill>
                <a:latin typeface="Fira Code"/>
              </a:rPr>
              <a:t>double</a:t>
            </a:r>
            <a:r>
              <a:rPr sz="1200" b="0" i="0" u="none">
                <a:solidFill>
                  <a:srgbClr val="E2E8F0"/>
                </a:solidFill>
                <a:latin typeface="Fira Code"/>
              </a:rPr>
              <a:t> amount) {</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 </a:t>
            </a:r>
            <a:r>
              <a:rPr sz="1200" b="0" i="0" u="none">
                <a:solidFill>
                  <a:srgbClr val="93C5FD"/>
                </a:solidFill>
                <a:latin typeface="Fira Code"/>
              </a:rPr>
              <a:t>if</a:t>
            </a:r>
            <a:r>
              <a:rPr sz="1200" b="0" i="0" u="none">
                <a:solidFill>
                  <a:srgbClr val="E2E8F0"/>
                </a:solidFill>
                <a:latin typeface="Fira Code"/>
              </a:rPr>
              <a:t> (amount &gt; 0</a:t>
            </a:r>
            <a:r>
              <a:rPr lang="en-US" sz="1200" b="0" i="0" u="none">
                <a:solidFill>
                  <a:srgbClr val="E2E8F0"/>
                </a:solidFill>
                <a:latin typeface="Fira Code"/>
              </a:rPr>
              <a:t>)</a:t>
            </a:r>
            <a:endParaRPr sz="1200" b="0" i="0" u="none">
              <a:solidFill>
                <a:srgbClr val="E2E8F0"/>
              </a:solidFill>
              <a:latin typeface="Fira Code"/>
            </a:endParaRPr>
          </a:p>
          <a:p>
            <a:pPr marL="457200" lvl="1" indent="457200" algn="l">
              <a:lnSpc>
                <a:spcPts val="1800"/>
              </a:lnSpc>
            </a:pPr>
            <a:r>
              <a:rPr sz="1200" b="0" i="0" u="none">
                <a:solidFill>
                  <a:srgbClr val="E2E8F0"/>
                </a:solidFill>
                <a:latin typeface="Fira Code"/>
              </a:rPr>
              <a:t>balance = balance+amount; </a:t>
            </a:r>
            <a:r>
              <a:rPr lang="en-US" sz="1200" b="0" i="0" u="none">
                <a:solidFill>
                  <a:srgbClr val="E2E8F0"/>
                </a:solidFill>
                <a:latin typeface="Fira Code"/>
              </a:rPr>
              <a:t>                                         </a:t>
            </a:r>
            <a:r>
              <a:rPr sz="1200" b="0" i="0" u="none">
                <a:solidFill>
                  <a:srgbClr val="93C5FD"/>
                </a:solidFill>
                <a:latin typeface="Fira Code"/>
              </a:rPr>
              <a:t>return</a:t>
            </a:r>
            <a:r>
              <a:rPr sz="1200" b="0" i="0" u="none">
                <a:solidFill>
                  <a:srgbClr val="E2E8F0"/>
                </a:solidFill>
                <a:latin typeface="Fira Code"/>
              </a:rPr>
              <a:t> balance; </a:t>
            </a:r>
            <a:endParaRPr sz="1200" b="0" i="0" u="none">
              <a:solidFill>
                <a:srgbClr val="E2E8F0"/>
              </a:solidFill>
              <a:latin typeface="Fira Code"/>
            </a:endParaRPr>
          </a:p>
          <a:p>
            <a:pPr marL="457200" lvl="1" indent="457200" algn="l">
              <a:lnSpc>
                <a:spcPts val="1800"/>
              </a:lnSpc>
            </a:pPr>
            <a:r>
              <a:rPr sz="1200" b="0" i="0" u="none">
                <a:solidFill>
                  <a:srgbClr val="64748B"/>
                </a:solidFill>
                <a:latin typeface="Fira Code"/>
              </a:rPr>
              <a:t>// Implementation</a:t>
            </a:r>
            <a:r>
              <a:rPr sz="1200" b="0" i="0" u="none">
                <a:solidFill>
                  <a:srgbClr val="E2E8F0"/>
                </a:solidFill>
                <a:latin typeface="Fira Code"/>
              </a:rPr>
              <a:t> </a:t>
            </a:r>
            <a:endParaRPr sz="1200" b="0" i="0" u="none">
              <a:solidFill>
                <a:srgbClr val="E2E8F0"/>
              </a:solidFill>
              <a:latin typeface="Fira Code"/>
            </a:endParaRPr>
          </a:p>
          <a:p>
            <a:pPr marL="457200" lvl="1" indent="457200" algn="l">
              <a:lnSpc>
                <a:spcPts val="1800"/>
              </a:lnSpc>
            </a:pPr>
            <a:r>
              <a:rPr sz="1200" b="0" i="0" u="none">
                <a:solidFill>
                  <a:srgbClr val="E2E8F0"/>
                </a:solidFill>
                <a:latin typeface="Fira Code"/>
              </a:rPr>
              <a:t>balance = depositMoney(balance, deposit);</a:t>
            </a:r>
            <a:endParaRPr sz="1200" b="0" i="0" u="none">
              <a:solidFill>
                <a:srgbClr val="E2E8F0"/>
              </a:solidFill>
              <a:latin typeface="Fira Code"/>
            </a:endParaRPr>
          </a:p>
        </p:txBody>
      </p:sp>
      <p:sp>
        <p:nvSpPr>
          <p:cNvPr id="11" name="TextBox 10"/>
          <p:cNvSpPr txBox="1"/>
          <p:nvPr/>
        </p:nvSpPr>
        <p:spPr>
          <a:xfrm>
            <a:off x="981075" y="2681287"/>
            <a:ext cx="6248400" cy="228600"/>
          </a:xfrm>
          <a:prstGeom prst="rect">
            <a:avLst/>
          </a:prstGeom>
          <a:noFill/>
        </p:spPr>
        <p:txBody>
          <a:bodyPr wrap="none" lIns="0" tIns="0" rIns="0" bIns="0" anchor="t">
            <a:spAutoFit/>
          </a:bodyPr>
          <a:lstStyle/>
          <a:p>
            <a:pPr algn="l"/>
            <a:r>
              <a:rPr sz="1500" b="1" i="0" u="none">
                <a:solidFill>
                  <a:srgbClr val="2563EB"/>
                </a:solidFill>
                <a:latin typeface="Inter"/>
              </a:rPr>
              <a:t>Methods:</a:t>
            </a:r>
            <a:r>
              <a:rPr sz="1500" b="1" i="0" u="none">
                <a:solidFill>
                  <a:srgbClr val="2563EB"/>
                </a:solidFill>
                <a:latin typeface="Inter"/>
              </a:rPr>
              <a:t> Independent functions for ATM operations.</a:t>
            </a:r>
            <a:endParaRPr sz="1500" b="1" i="0" u="none">
              <a:solidFill>
                <a:srgbClr val="2563EB"/>
              </a:solidFill>
              <a:latin typeface="Inter"/>
            </a:endParaRPr>
          </a:p>
        </p:txBody>
      </p:sp>
      <p:sp>
        <p:nvSpPr>
          <p:cNvPr id="12" name="TextBox 11"/>
          <p:cNvSpPr txBox="1"/>
          <p:nvPr/>
        </p:nvSpPr>
        <p:spPr>
          <a:xfrm>
            <a:off x="981075" y="3062287"/>
            <a:ext cx="5019675" cy="457200"/>
          </a:xfrm>
          <a:prstGeom prst="rect">
            <a:avLst/>
          </a:prstGeom>
          <a:noFill/>
        </p:spPr>
        <p:txBody>
          <a:bodyPr wrap="square" lIns="0" tIns="0" rIns="0" bIns="0" anchor="t">
            <a:spAutoFit/>
          </a:bodyPr>
          <a:lstStyle/>
          <a:p>
            <a:pPr algn="l"/>
            <a:r>
              <a:rPr sz="1500" b="1" i="0" u="none">
                <a:solidFill>
                  <a:srgbClr val="2563EB"/>
                </a:solidFill>
                <a:latin typeface="Inter"/>
              </a:rPr>
              <a:t>Parameters:</a:t>
            </a:r>
            <a:r>
              <a:rPr sz="1500" b="1" i="0" u="none">
                <a:solidFill>
                  <a:srgbClr val="2563EB"/>
                </a:solidFill>
                <a:latin typeface="Inter"/>
              </a:rPr>
              <a:t> Passing balance, amount, and PIN values.</a:t>
            </a:r>
            <a:endParaRPr sz="1500" b="1" i="0" u="none">
              <a:solidFill>
                <a:srgbClr val="2563EB"/>
              </a:solidFill>
              <a:latin typeface="Inter"/>
            </a:endParaRPr>
          </a:p>
        </p:txBody>
      </p:sp>
      <p:sp>
        <p:nvSpPr>
          <p:cNvPr id="13" name="TextBox 12"/>
          <p:cNvSpPr txBox="1"/>
          <p:nvPr/>
        </p:nvSpPr>
        <p:spPr>
          <a:xfrm>
            <a:off x="981075" y="3671887"/>
            <a:ext cx="6248400" cy="228600"/>
          </a:xfrm>
          <a:prstGeom prst="rect">
            <a:avLst/>
          </a:prstGeom>
          <a:noFill/>
        </p:spPr>
        <p:txBody>
          <a:bodyPr wrap="none" lIns="0" tIns="0" rIns="0" bIns="0" anchor="t">
            <a:spAutoFit/>
          </a:bodyPr>
          <a:lstStyle/>
          <a:p>
            <a:pPr algn="l"/>
            <a:r>
              <a:rPr sz="1500" b="1" i="0" u="none">
                <a:solidFill>
                  <a:srgbClr val="2563EB"/>
                </a:solidFill>
                <a:latin typeface="Inter"/>
              </a:rPr>
              <a:t>Static Scope:</a:t>
            </a:r>
            <a:r>
              <a:rPr sz="1500" b="1" i="0" u="none">
                <a:solidFill>
                  <a:srgbClr val="2563EB"/>
                </a:solidFill>
                <a:latin typeface="Inter"/>
              </a:rPr>
              <a:t> User-defined methods handled directly.</a:t>
            </a:r>
            <a:endParaRPr sz="1500" b="1" i="0" u="none">
              <a:solidFill>
                <a:srgbClr val="2563EB"/>
              </a:solidFill>
              <a:latin typeface="Inter"/>
            </a:endParaRPr>
          </a:p>
        </p:txBody>
      </p:sp>
      <p:sp>
        <p:nvSpPr>
          <p:cNvPr id="14" name="TextBox 13"/>
          <p:cNvSpPr txBox="1"/>
          <p:nvPr/>
        </p:nvSpPr>
        <p:spPr>
          <a:xfrm>
            <a:off x="876300" y="4433887"/>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Implements reusable, distinct modular blocks for each transaction type.</a:t>
            </a:r>
            <a:endParaRPr sz="1200" b="0" i="0" u="none">
              <a:solidFill>
                <a:srgbClr val="1E3A8A"/>
              </a:solidFill>
              <a:latin typeface="Inter"/>
            </a:endParaRPr>
          </a:p>
        </p:txBody>
      </p:sp>
      <p:pic>
        <p:nvPicPr>
          <p:cNvPr id="15" name="Picture 14"/>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738687"/>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1524000"/>
            <a:ext cx="5295900" cy="381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738687"/>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181225"/>
            <a:ext cx="238125" cy="200025"/>
          </a:xfrm>
          <a:prstGeom prst="rect">
            <a:avLst/>
          </a:prstGeom>
        </p:spPr>
      </p:pic>
      <p:pic>
        <p:nvPicPr>
          <p:cNvPr id="6" name="Picture 5" descr="image.png"/>
          <p:cNvPicPr>
            <a:picLocks noChangeAspect="1"/>
          </p:cNvPicPr>
          <p:nvPr/>
        </p:nvPicPr>
        <p:blipFill>
          <a:blip r:embed="rId1"/>
          <a:stretch>
            <a:fillRect/>
          </a:stretch>
        </p:blipFill>
        <p:spPr>
          <a:xfrm>
            <a:off x="609600" y="2790825"/>
            <a:ext cx="238125" cy="200025"/>
          </a:xfrm>
          <a:prstGeom prst="rect">
            <a:avLst/>
          </a:prstGeom>
        </p:spPr>
      </p:pic>
      <p:pic>
        <p:nvPicPr>
          <p:cNvPr id="7" name="Picture 6" descr="image.png"/>
          <p:cNvPicPr>
            <a:picLocks noChangeAspect="1"/>
          </p:cNvPicPr>
          <p:nvPr/>
        </p:nvPicPr>
        <p:blipFill>
          <a:blip r:embed="rId1"/>
          <a:stretch>
            <a:fillRect/>
          </a:stretch>
        </p:blipFill>
        <p:spPr>
          <a:xfrm>
            <a:off x="609600" y="3400425"/>
            <a:ext cx="238125" cy="200025"/>
          </a:xfrm>
          <a:prstGeom prst="rect">
            <a:avLst/>
          </a:prstGeom>
        </p:spPr>
      </p:pic>
      <p:pic>
        <p:nvPicPr>
          <p:cNvPr id="8" name="Picture 7" descr="image.png"/>
          <p:cNvPicPr>
            <a:picLocks noChangeAspect="1"/>
          </p:cNvPicPr>
          <p:nvPr/>
        </p:nvPicPr>
        <p:blipFill>
          <a:blip r:embed="rId1"/>
          <a:stretch>
            <a:fillRect/>
          </a:stretch>
        </p:blipFill>
        <p:spPr>
          <a:xfrm>
            <a:off x="609600" y="4010025"/>
            <a:ext cx="238125" cy="200025"/>
          </a:xfrm>
          <a:prstGeom prst="rect">
            <a:avLst/>
          </a:prstGeom>
        </p:spPr>
      </p:pic>
      <p:sp>
        <p:nvSpPr>
          <p:cNvPr id="9" name="TextBox 8"/>
          <p:cNvSpPr txBox="1"/>
          <p:nvPr/>
        </p:nvSpPr>
        <p:spPr>
          <a:xfrm>
            <a:off x="609600" y="1281112"/>
            <a:ext cx="6619875" cy="200025"/>
          </a:xfrm>
          <a:prstGeom prst="rect">
            <a:avLst/>
          </a:prstGeom>
          <a:noFill/>
        </p:spPr>
        <p:txBody>
          <a:bodyPr wrap="none" lIns="0" tIns="0" rIns="0" bIns="0" anchor="t">
            <a:spAutoFit/>
          </a:bodyPr>
          <a:lstStyle/>
          <a:p>
            <a:pPr algn="l"/>
            <a:r>
              <a:rPr sz="1350" b="0" i="0" u="none">
                <a:solidFill>
                  <a:srgbClr val="64748B"/>
                </a:solidFill>
                <a:latin typeface="Inter"/>
              </a:rPr>
              <a:t>CO4</a:t>
            </a:r>
            <a:endParaRPr sz="1350" b="0" i="0" u="none">
              <a:solidFill>
                <a:srgbClr val="64748B"/>
              </a:solidFill>
              <a:latin typeface="Inter"/>
            </a:endParaRPr>
          </a:p>
        </p:txBody>
      </p:sp>
      <p:sp>
        <p:nvSpPr>
          <p:cNvPr id="10" name="TextBox 9"/>
          <p:cNvSpPr txBox="1"/>
          <p:nvPr/>
        </p:nvSpPr>
        <p:spPr>
          <a:xfrm>
            <a:off x="609600" y="1481137"/>
            <a:ext cx="6950868" cy="438150"/>
          </a:xfrm>
          <a:prstGeom prst="rect">
            <a:avLst/>
          </a:prstGeom>
          <a:noFill/>
        </p:spPr>
        <p:txBody>
          <a:bodyPr wrap="none" lIns="0" tIns="0" rIns="0" bIns="0" anchor="t">
            <a:spAutoFit/>
          </a:bodyPr>
          <a:lstStyle/>
          <a:p>
            <a:pPr algn="l"/>
            <a:r>
              <a:rPr sz="2700" b="1" i="0" u="none">
                <a:solidFill>
                  <a:srgbClr val="0F172A"/>
                </a:solidFill>
                <a:latin typeface="Space Grotesk"/>
              </a:rPr>
              <a:t>Object-Oriented Programming</a:t>
            </a:r>
            <a:endParaRPr sz="2700" b="1" i="0" u="none">
              <a:solidFill>
                <a:srgbClr val="0F172A"/>
              </a:solidFill>
              <a:latin typeface="Space Grotesk"/>
            </a:endParaRPr>
          </a:p>
        </p:txBody>
      </p:sp>
      <p:sp>
        <p:nvSpPr>
          <p:cNvPr id="11" name="TextBox 10"/>
          <p:cNvSpPr txBox="1"/>
          <p:nvPr/>
        </p:nvSpPr>
        <p:spPr>
          <a:xfrm>
            <a:off x="6372225" y="1828800"/>
            <a:ext cx="5000625" cy="3137535"/>
          </a:xfrm>
          <a:prstGeom prst="rect">
            <a:avLst/>
          </a:prstGeom>
          <a:noFill/>
        </p:spPr>
        <p:txBody>
          <a:bodyPr wrap="square" lIns="0" tIns="0" rIns="0" bIns="0" anchor="t">
            <a:noAutofit/>
          </a:bodyPr>
          <a:lstStyle/>
          <a:p>
            <a:pPr algn="l">
              <a:lnSpc>
                <a:spcPts val="1800"/>
              </a:lnSpc>
            </a:pPr>
            <a:r>
              <a:rPr sz="1200" b="0" i="0" u="none">
                <a:solidFill>
                  <a:srgbClr val="93C5FD"/>
                </a:solidFill>
                <a:latin typeface="Fira Code"/>
              </a:rPr>
              <a:t>class</a:t>
            </a:r>
            <a:r>
              <a:rPr sz="1200" b="0" i="0" u="none">
                <a:solidFill>
                  <a:srgbClr val="E2E8F0"/>
                </a:solidFill>
                <a:latin typeface="Fira Code"/>
              </a:rPr>
              <a:t> </a:t>
            </a:r>
            <a:r>
              <a:rPr sz="1200" b="0" i="0" u="none">
                <a:solidFill>
                  <a:srgbClr val="FCD34D"/>
                </a:solidFill>
                <a:latin typeface="Fira Code"/>
              </a:rPr>
              <a:t>ATM</a:t>
            </a:r>
            <a:r>
              <a:rPr sz="1200" b="0" i="0" u="none">
                <a:solidFill>
                  <a:srgbClr val="E2E8F0"/>
                </a:solidFill>
                <a:latin typeface="Fira Code"/>
              </a:rPr>
              <a:t> { </a:t>
            </a:r>
            <a:endParaRPr sz="1200" b="0" i="0" u="none">
              <a:solidFill>
                <a:srgbClr val="E2E8F0"/>
              </a:solidFill>
              <a:latin typeface="Fira Code"/>
            </a:endParaRPr>
          </a:p>
          <a:p>
            <a:pPr indent="457200" algn="l">
              <a:lnSpc>
                <a:spcPts val="1800"/>
              </a:lnSpc>
            </a:pPr>
            <a:r>
              <a:rPr sz="1200" b="0" i="0" u="none">
                <a:solidFill>
                  <a:srgbClr val="93C5FD"/>
                </a:solidFill>
                <a:latin typeface="Fira Code"/>
              </a:rPr>
              <a:t>private double</a:t>
            </a:r>
            <a:r>
              <a:rPr sz="1200" b="0" i="0" u="none">
                <a:solidFill>
                  <a:srgbClr val="E2E8F0"/>
                </a:solidFill>
                <a:latin typeface="Fira Code"/>
              </a:rPr>
              <a:t> balance; </a:t>
            </a:r>
            <a:endParaRPr sz="1200" b="0" i="0" u="none">
              <a:solidFill>
                <a:srgbClr val="E2E8F0"/>
              </a:solidFill>
              <a:latin typeface="Fira Code"/>
            </a:endParaRPr>
          </a:p>
          <a:p>
            <a:pPr indent="457200" algn="l">
              <a:lnSpc>
                <a:spcPts val="1800"/>
              </a:lnSpc>
            </a:pPr>
            <a:r>
              <a:rPr sz="1200" b="0" i="0" u="none">
                <a:solidFill>
                  <a:srgbClr val="FCD34D"/>
                </a:solidFill>
                <a:latin typeface="Fira Code"/>
              </a:rPr>
              <a:t>ATM</a:t>
            </a:r>
            <a:r>
              <a:rPr sz="1200" b="0" i="0" u="none">
                <a:solidFill>
                  <a:srgbClr val="E2E8F0"/>
                </a:solidFill>
                <a:latin typeface="Fira Code"/>
              </a:rPr>
              <a:t>(</a:t>
            </a:r>
            <a:r>
              <a:rPr sz="1200" b="0" i="0" u="none">
                <a:solidFill>
                  <a:srgbClr val="FCD34D"/>
                </a:solidFill>
                <a:latin typeface="Fira Code"/>
              </a:rPr>
              <a:t>double</a:t>
            </a:r>
            <a:r>
              <a:rPr sz="1200" b="0" i="0" u="none">
                <a:solidFill>
                  <a:srgbClr val="E2E8F0"/>
                </a:solidFill>
                <a:latin typeface="Fira Code"/>
              </a:rPr>
              <a:t> balance) { </a:t>
            </a:r>
            <a:endParaRPr sz="1200" b="0" i="0" u="none">
              <a:solidFill>
                <a:srgbClr val="E2E8F0"/>
              </a:solidFill>
              <a:latin typeface="Fira Code"/>
            </a:endParaRPr>
          </a:p>
          <a:p>
            <a:pPr marL="457200" lvl="1" indent="457200" algn="l">
              <a:lnSpc>
                <a:spcPts val="1800"/>
              </a:lnSpc>
            </a:pPr>
            <a:r>
              <a:rPr sz="1200" b="0" i="0" u="none">
                <a:solidFill>
                  <a:srgbClr val="93C5FD"/>
                </a:solidFill>
                <a:latin typeface="Fira Code"/>
              </a:rPr>
              <a:t>this</a:t>
            </a:r>
            <a:r>
              <a:rPr sz="1200" b="0" i="0" u="none">
                <a:solidFill>
                  <a:srgbClr val="E2E8F0"/>
                </a:solidFill>
                <a:latin typeface="Fira Code"/>
              </a:rPr>
              <a:t>.balance = balance</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 </a:t>
            </a:r>
            <a:endParaRPr sz="1200" b="0" i="0" u="none">
              <a:solidFill>
                <a:srgbClr val="E2E8F0"/>
              </a:solidFill>
              <a:latin typeface="Fira Code"/>
            </a:endParaRPr>
          </a:p>
          <a:p>
            <a:pPr indent="457200" algn="l">
              <a:lnSpc>
                <a:spcPts val="1800"/>
              </a:lnSpc>
            </a:pPr>
            <a:r>
              <a:rPr sz="1200" b="0" i="0" u="none">
                <a:solidFill>
                  <a:srgbClr val="FCD34D"/>
                </a:solidFill>
                <a:latin typeface="Fira Code"/>
              </a:rPr>
              <a:t>double</a:t>
            </a:r>
            <a:r>
              <a:rPr sz="1200" b="0" i="0" u="none">
                <a:solidFill>
                  <a:srgbClr val="E2E8F0"/>
                </a:solidFill>
                <a:latin typeface="Fira Code"/>
              </a:rPr>
              <a:t> checkBalance() { </a:t>
            </a:r>
            <a:endParaRPr sz="1200" b="0" i="0" u="none">
              <a:solidFill>
                <a:srgbClr val="E2E8F0"/>
              </a:solidFill>
              <a:latin typeface="Fira Code"/>
            </a:endParaRPr>
          </a:p>
          <a:p>
            <a:pPr indent="457200" algn="l">
              <a:lnSpc>
                <a:spcPts val="1800"/>
              </a:lnSpc>
            </a:pPr>
            <a:r>
              <a:rPr sz="1200" b="0" i="0" u="none">
                <a:solidFill>
                  <a:srgbClr val="93C5FD"/>
                </a:solidFill>
                <a:latin typeface="Fira Code"/>
              </a:rPr>
              <a:t>return</a:t>
            </a:r>
            <a:r>
              <a:rPr sz="1200" b="0" i="0" u="none">
                <a:solidFill>
                  <a:srgbClr val="E2E8F0"/>
                </a:solidFill>
                <a:latin typeface="Fira Code"/>
              </a:rPr>
              <a:t> balance;</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 </a:t>
            </a:r>
            <a:r>
              <a:rPr lang="en-US" sz="1200" b="0" i="0" u="none">
                <a:solidFill>
                  <a:srgbClr val="E2E8F0"/>
                </a:solidFill>
                <a:latin typeface="Fira Code"/>
              </a:rPr>
              <a:t>                                                                                      </a:t>
            </a:r>
            <a:r>
              <a:rPr sz="1200" b="0" i="0" u="none">
                <a:solidFill>
                  <a:srgbClr val="E2E8F0"/>
                </a:solidFill>
                <a:latin typeface="Fira Code"/>
              </a:rPr>
              <a:t>} </a:t>
            </a:r>
            <a:r>
              <a:rPr lang="en-US" sz="1200" b="0" i="0" u="none">
                <a:solidFill>
                  <a:srgbClr val="E2E8F0"/>
                </a:solidFill>
                <a:latin typeface="Fira Code"/>
              </a:rPr>
              <a:t>                                                                                          </a:t>
            </a:r>
            <a:r>
              <a:rPr sz="1200" b="0" i="0" u="none">
                <a:solidFill>
                  <a:srgbClr val="FCD34D"/>
                </a:solidFill>
                <a:latin typeface="Fira Code"/>
              </a:rPr>
              <a:t>ATM</a:t>
            </a:r>
            <a:r>
              <a:rPr sz="1200" b="0" i="0" u="none">
                <a:solidFill>
                  <a:srgbClr val="E2E8F0"/>
                </a:solidFill>
                <a:latin typeface="Fira Code"/>
              </a:rPr>
              <a:t> atm = </a:t>
            </a:r>
            <a:r>
              <a:rPr sz="1200" b="0" i="0" u="none">
                <a:solidFill>
                  <a:srgbClr val="93C5FD"/>
                </a:solidFill>
                <a:latin typeface="Fira Code"/>
              </a:rPr>
              <a:t>new</a:t>
            </a:r>
            <a:r>
              <a:rPr sz="1200" b="0" i="0" u="none">
                <a:solidFill>
                  <a:srgbClr val="E2E8F0"/>
                </a:solidFill>
                <a:latin typeface="Fira Code"/>
              </a:rPr>
              <a:t> </a:t>
            </a:r>
            <a:r>
              <a:rPr sz="1200" b="0" i="0" u="none">
                <a:solidFill>
                  <a:srgbClr val="FCD34D"/>
                </a:solidFill>
                <a:latin typeface="Fira Code"/>
              </a:rPr>
              <a:t>ATM</a:t>
            </a:r>
            <a:r>
              <a:rPr sz="1200" b="0" i="0" u="none">
                <a:solidFill>
                  <a:srgbClr val="E2E8F0"/>
                </a:solidFill>
                <a:latin typeface="Fira Code"/>
              </a:rPr>
              <a:t>(10000); System.out.println(atm.checkBalance());</a:t>
            </a:r>
            <a:endParaRPr sz="1200" b="0" i="0" u="none">
              <a:solidFill>
                <a:srgbClr val="E2E8F0"/>
              </a:solidFill>
              <a:latin typeface="Fira Code"/>
            </a:endParaRPr>
          </a:p>
        </p:txBody>
      </p:sp>
      <p:sp>
        <p:nvSpPr>
          <p:cNvPr id="12" name="TextBox 11"/>
          <p:cNvSpPr txBox="1"/>
          <p:nvPr/>
        </p:nvSpPr>
        <p:spPr>
          <a:xfrm>
            <a:off x="1000125" y="2147887"/>
            <a:ext cx="5000625" cy="457200"/>
          </a:xfrm>
          <a:prstGeom prst="rect">
            <a:avLst/>
          </a:prstGeom>
          <a:noFill/>
        </p:spPr>
        <p:txBody>
          <a:bodyPr wrap="square" lIns="0" tIns="0" rIns="0" bIns="0" anchor="t">
            <a:spAutoFit/>
          </a:bodyPr>
          <a:lstStyle/>
          <a:p>
            <a:pPr algn="l"/>
            <a:r>
              <a:rPr sz="1500" b="1" i="0" u="none">
                <a:solidFill>
                  <a:srgbClr val="2563EB"/>
                </a:solidFill>
                <a:latin typeface="Inter"/>
              </a:rPr>
              <a:t>Classes &amp; Objects:</a:t>
            </a:r>
            <a:r>
              <a:rPr sz="1500" b="1" i="0" u="none">
                <a:solidFill>
                  <a:srgbClr val="2563EB"/>
                </a:solidFill>
                <a:latin typeface="Inter"/>
              </a:rPr>
              <a:t> The ATM class defines the core system.</a:t>
            </a:r>
            <a:endParaRPr sz="1500" b="1" i="0" u="none">
              <a:solidFill>
                <a:srgbClr val="2563EB"/>
              </a:solidFill>
              <a:latin typeface="Inter"/>
            </a:endParaRPr>
          </a:p>
        </p:txBody>
      </p:sp>
      <p:sp>
        <p:nvSpPr>
          <p:cNvPr id="13" name="TextBox 12"/>
          <p:cNvSpPr txBox="1"/>
          <p:nvPr/>
        </p:nvSpPr>
        <p:spPr>
          <a:xfrm>
            <a:off x="1000125" y="2757487"/>
            <a:ext cx="5000625" cy="457200"/>
          </a:xfrm>
          <a:prstGeom prst="rect">
            <a:avLst/>
          </a:prstGeom>
          <a:noFill/>
        </p:spPr>
        <p:txBody>
          <a:bodyPr wrap="square" lIns="0" tIns="0" rIns="0" bIns="0" anchor="t">
            <a:spAutoFit/>
          </a:bodyPr>
          <a:lstStyle/>
          <a:p>
            <a:pPr algn="l"/>
            <a:r>
              <a:rPr sz="1500" b="1" i="0" u="none">
                <a:solidFill>
                  <a:srgbClr val="2563EB"/>
                </a:solidFill>
                <a:latin typeface="Inter"/>
              </a:rPr>
              <a:t>Encapsulation:</a:t>
            </a:r>
            <a:r>
              <a:rPr sz="1500" b="1" i="0" u="none">
                <a:solidFill>
                  <a:srgbClr val="2563EB"/>
                </a:solidFill>
                <a:latin typeface="Inter"/>
              </a:rPr>
              <a:t> Account balance protected via private access.</a:t>
            </a:r>
            <a:endParaRPr sz="1500" b="1" i="0" u="none">
              <a:solidFill>
                <a:srgbClr val="2563EB"/>
              </a:solidFill>
              <a:latin typeface="Inter"/>
            </a:endParaRPr>
          </a:p>
        </p:txBody>
      </p:sp>
      <p:sp>
        <p:nvSpPr>
          <p:cNvPr id="14" name="TextBox 13"/>
          <p:cNvSpPr txBox="1"/>
          <p:nvPr/>
        </p:nvSpPr>
        <p:spPr>
          <a:xfrm>
            <a:off x="1000125" y="3367087"/>
            <a:ext cx="5000625" cy="457200"/>
          </a:xfrm>
          <a:prstGeom prst="rect">
            <a:avLst/>
          </a:prstGeom>
          <a:noFill/>
        </p:spPr>
        <p:txBody>
          <a:bodyPr wrap="square" lIns="0" tIns="0" rIns="0" bIns="0" anchor="t">
            <a:spAutoFit/>
          </a:bodyPr>
          <a:lstStyle/>
          <a:p>
            <a:pPr algn="l"/>
            <a:r>
              <a:rPr sz="1500" b="1" i="0" u="none">
                <a:solidFill>
                  <a:srgbClr val="2563EB"/>
                </a:solidFill>
                <a:latin typeface="Inter"/>
              </a:rPr>
              <a:t>Constructors:</a:t>
            </a:r>
            <a:r>
              <a:rPr sz="1500" b="1" i="0" u="none">
                <a:solidFill>
                  <a:srgbClr val="2563EB"/>
                </a:solidFill>
                <a:latin typeface="Inter"/>
              </a:rPr>
              <a:t> Initialize the ATM with starting parameters.</a:t>
            </a:r>
            <a:endParaRPr sz="1500" b="1" i="0" u="none">
              <a:solidFill>
                <a:srgbClr val="2563EB"/>
              </a:solidFill>
              <a:latin typeface="Inter"/>
            </a:endParaRPr>
          </a:p>
        </p:txBody>
      </p:sp>
      <p:sp>
        <p:nvSpPr>
          <p:cNvPr id="15" name="TextBox 14"/>
          <p:cNvSpPr txBox="1"/>
          <p:nvPr/>
        </p:nvSpPr>
        <p:spPr>
          <a:xfrm>
            <a:off x="1000125" y="3976687"/>
            <a:ext cx="5000625" cy="457200"/>
          </a:xfrm>
          <a:prstGeom prst="rect">
            <a:avLst/>
          </a:prstGeom>
          <a:noFill/>
        </p:spPr>
        <p:txBody>
          <a:bodyPr wrap="square" lIns="0" tIns="0" rIns="0" bIns="0" anchor="t">
            <a:spAutoFit/>
          </a:bodyPr>
          <a:lstStyle/>
          <a:p>
            <a:pPr algn="l"/>
            <a:r>
              <a:rPr sz="1500" b="1" i="0" u="none">
                <a:solidFill>
                  <a:srgbClr val="2563EB"/>
                </a:solidFill>
                <a:latin typeface="Inter"/>
              </a:rPr>
              <a:t>Exception Handling:</a:t>
            </a:r>
            <a:r>
              <a:rPr sz="1500" b="1" i="0" u="none">
                <a:solidFill>
                  <a:srgbClr val="2563EB"/>
                </a:solidFill>
                <a:latin typeface="Inter"/>
              </a:rPr>
              <a:t> try-catch blocks for invalid inputs.</a:t>
            </a:r>
            <a:endParaRPr sz="1500" b="1" i="0" u="none">
              <a:solidFill>
                <a:srgbClr val="2563EB"/>
              </a:solidFill>
              <a:latin typeface="Inter"/>
            </a:endParaRPr>
          </a:p>
        </p:txBody>
      </p:sp>
      <p:sp>
        <p:nvSpPr>
          <p:cNvPr id="16" name="TextBox 15"/>
          <p:cNvSpPr txBox="1"/>
          <p:nvPr/>
        </p:nvSpPr>
        <p:spPr>
          <a:xfrm>
            <a:off x="876300" y="4967287"/>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Secure application architecture handling runtime errors gracefully.</a:t>
            </a:r>
            <a:endParaRPr sz="1200" b="0" i="0" u="none">
              <a:solidFill>
                <a:srgbClr val="1E3A8A"/>
              </a:solidFill>
              <a:latin typeface="Inter"/>
            </a:endParaRPr>
          </a:p>
        </p:txBody>
      </p:sp>
      <p:pic>
        <p:nvPicPr>
          <p:cNvPr id="17" name="Picture 16"/>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319587"/>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1638300"/>
            <a:ext cx="5295900" cy="3581400"/>
          </a:xfrm>
          <a:prstGeom prst="roundRect">
            <a:avLst>
              <a:gd name="adj" fmla="val 319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319587"/>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605087"/>
            <a:ext cx="142875" cy="190500"/>
          </a:xfrm>
          <a:prstGeom prst="rect">
            <a:avLst/>
          </a:prstGeom>
        </p:spPr>
      </p:pic>
      <p:pic>
        <p:nvPicPr>
          <p:cNvPr id="6" name="Picture 5" descr="image.png"/>
          <p:cNvPicPr>
            <a:picLocks noChangeAspect="1"/>
          </p:cNvPicPr>
          <p:nvPr/>
        </p:nvPicPr>
        <p:blipFill>
          <a:blip r:embed="rId1"/>
          <a:stretch>
            <a:fillRect/>
          </a:stretch>
        </p:blipFill>
        <p:spPr>
          <a:xfrm>
            <a:off x="609600" y="3214687"/>
            <a:ext cx="142875" cy="190500"/>
          </a:xfrm>
          <a:prstGeom prst="rect">
            <a:avLst/>
          </a:prstGeom>
        </p:spPr>
      </p:pic>
      <p:pic>
        <p:nvPicPr>
          <p:cNvPr id="7" name="Picture 6" descr="image.png"/>
          <p:cNvPicPr>
            <a:picLocks noChangeAspect="1"/>
          </p:cNvPicPr>
          <p:nvPr/>
        </p:nvPicPr>
        <p:blipFill>
          <a:blip r:embed="rId1"/>
          <a:stretch>
            <a:fillRect/>
          </a:stretch>
        </p:blipFill>
        <p:spPr>
          <a:xfrm>
            <a:off x="609600" y="3824287"/>
            <a:ext cx="142875" cy="190500"/>
          </a:xfrm>
          <a:prstGeom prst="rect">
            <a:avLst/>
          </a:prstGeom>
        </p:spPr>
      </p:pic>
      <p:sp>
        <p:nvSpPr>
          <p:cNvPr id="8" name="TextBox 7"/>
          <p:cNvSpPr txBox="1"/>
          <p:nvPr/>
        </p:nvSpPr>
        <p:spPr>
          <a:xfrm>
            <a:off x="609600" y="1700212"/>
            <a:ext cx="6619875" cy="200025"/>
          </a:xfrm>
          <a:prstGeom prst="rect">
            <a:avLst/>
          </a:prstGeom>
          <a:noFill/>
        </p:spPr>
        <p:txBody>
          <a:bodyPr wrap="none" lIns="0" tIns="0" rIns="0" bIns="0" anchor="t">
            <a:spAutoFit/>
          </a:bodyPr>
          <a:lstStyle/>
          <a:p>
            <a:pPr algn="l"/>
            <a:r>
              <a:rPr sz="1350" b="0" i="0" u="none">
                <a:solidFill>
                  <a:srgbClr val="64748B"/>
                </a:solidFill>
                <a:latin typeface="Inter"/>
              </a:rPr>
              <a:t>CO5</a:t>
            </a:r>
            <a:endParaRPr sz="1350" b="0" i="0" u="none">
              <a:solidFill>
                <a:srgbClr val="64748B"/>
              </a:solidFill>
              <a:latin typeface="Inter"/>
            </a:endParaRPr>
          </a:p>
        </p:txBody>
      </p:sp>
      <p:sp>
        <p:nvSpPr>
          <p:cNvPr id="9" name="TextBox 8"/>
          <p:cNvSpPr txBox="1"/>
          <p:nvPr/>
        </p:nvSpPr>
        <p:spPr>
          <a:xfrm>
            <a:off x="609600" y="1900237"/>
            <a:ext cx="6950868" cy="438150"/>
          </a:xfrm>
          <a:prstGeom prst="rect">
            <a:avLst/>
          </a:prstGeom>
          <a:noFill/>
        </p:spPr>
        <p:txBody>
          <a:bodyPr wrap="none" lIns="0" tIns="0" rIns="0" bIns="0" anchor="t">
            <a:spAutoFit/>
          </a:bodyPr>
          <a:lstStyle/>
          <a:p>
            <a:pPr algn="l"/>
            <a:r>
              <a:rPr sz="2700" b="1" i="0" u="none">
                <a:solidFill>
                  <a:srgbClr val="0F172A"/>
                </a:solidFill>
                <a:latin typeface="Space Grotesk"/>
              </a:rPr>
              <a:t>String Handling &amp; File I/O</a:t>
            </a:r>
            <a:endParaRPr sz="2700" b="1" i="0" u="none">
              <a:solidFill>
                <a:srgbClr val="0F172A"/>
              </a:solidFill>
              <a:latin typeface="Space Grotesk"/>
            </a:endParaRPr>
          </a:p>
        </p:txBody>
      </p:sp>
      <p:sp>
        <p:nvSpPr>
          <p:cNvPr id="10" name="TextBox 9"/>
          <p:cNvSpPr txBox="1"/>
          <p:nvPr/>
        </p:nvSpPr>
        <p:spPr>
          <a:xfrm>
            <a:off x="6591300" y="1943100"/>
            <a:ext cx="4781550" cy="2077085"/>
          </a:xfrm>
          <a:prstGeom prst="rect">
            <a:avLst/>
          </a:prstGeom>
          <a:noFill/>
        </p:spPr>
        <p:txBody>
          <a:bodyPr wrap="square" lIns="0" tIns="0" rIns="0" bIns="0" anchor="t">
            <a:spAutoFit/>
          </a:bodyPr>
          <a:lstStyle/>
          <a:p>
            <a:pPr algn="l">
              <a:lnSpc>
                <a:spcPts val="1800"/>
              </a:lnSpc>
            </a:pPr>
            <a:r>
              <a:rPr sz="1200" b="0" i="0" u="none">
                <a:solidFill>
                  <a:srgbClr val="FCD34D"/>
                </a:solidFill>
                <a:latin typeface="Fira Code"/>
              </a:rPr>
              <a:t>String</a:t>
            </a:r>
            <a:r>
              <a:rPr sz="1200" b="0" i="0" u="none">
                <a:solidFill>
                  <a:srgbClr val="E2E8F0"/>
                </a:solidFill>
                <a:latin typeface="Fira Code"/>
              </a:rPr>
              <a:t> transaction = </a:t>
            </a:r>
            <a:r>
              <a:rPr sz="1200" b="0" i="0" u="none">
                <a:solidFill>
                  <a:srgbClr val="A7F3D0"/>
                </a:solidFill>
                <a:latin typeface="Fira Code"/>
              </a:rPr>
              <a:t>"Deposit: Rs. 500"</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93C5FD"/>
                </a:solidFill>
                <a:latin typeface="Fira Code"/>
              </a:rPr>
              <a:t>try</a:t>
            </a:r>
            <a:r>
              <a:rPr sz="1200" b="0" i="0" u="none">
                <a:solidFill>
                  <a:srgbClr val="E2E8F0"/>
                </a:solidFill>
                <a:latin typeface="Fira Code"/>
              </a:rPr>
              <a:t> { </a:t>
            </a:r>
            <a:endParaRPr sz="1200" b="0" i="0" u="none">
              <a:solidFill>
                <a:srgbClr val="E2E8F0"/>
              </a:solidFill>
              <a:latin typeface="Fira Code"/>
            </a:endParaRPr>
          </a:p>
          <a:p>
            <a:pPr indent="457200" algn="l">
              <a:lnSpc>
                <a:spcPts val="1800"/>
              </a:lnSpc>
            </a:pPr>
            <a:r>
              <a:rPr sz="1200" b="0" i="0" u="none">
                <a:solidFill>
                  <a:srgbClr val="FCD34D"/>
                </a:solidFill>
                <a:latin typeface="Fira Code"/>
              </a:rPr>
              <a:t>FileWriter</a:t>
            </a:r>
            <a:r>
              <a:rPr sz="1200" b="0" i="0" u="none">
                <a:solidFill>
                  <a:srgbClr val="E2E8F0"/>
                </a:solidFill>
                <a:latin typeface="Fira Code"/>
              </a:rPr>
              <a:t> fw = </a:t>
            </a:r>
            <a:r>
              <a:rPr sz="1200" b="0" i="0" u="none">
                <a:solidFill>
                  <a:srgbClr val="93C5FD"/>
                </a:solidFill>
                <a:latin typeface="Fira Code"/>
              </a:rPr>
              <a:t>new</a:t>
            </a:r>
            <a:r>
              <a:rPr sz="1200" b="0" i="0" u="none">
                <a:solidFill>
                  <a:srgbClr val="E2E8F0"/>
                </a:solidFill>
                <a:latin typeface="Fira Code"/>
              </a:rPr>
              <a:t> </a:t>
            </a:r>
            <a:r>
              <a:rPr sz="1200" b="0" i="0" u="none">
                <a:solidFill>
                  <a:srgbClr val="FCD34D"/>
                </a:solidFill>
                <a:latin typeface="Fira Code"/>
              </a:rPr>
              <a:t>FileWriter</a:t>
            </a:r>
            <a:r>
              <a:rPr sz="1200" b="0" i="0" u="none">
                <a:solidFill>
                  <a:srgbClr val="E2E8F0"/>
                </a:solidFill>
                <a:latin typeface="Fira Code"/>
              </a:rPr>
              <a:t>( </a:t>
            </a:r>
            <a:r>
              <a:rPr sz="1200" b="0" i="0" u="none">
                <a:solidFill>
                  <a:srgbClr val="A7F3D0"/>
                </a:solidFill>
                <a:latin typeface="Fira Code"/>
              </a:rPr>
              <a:t>"transactions.txt"</a:t>
            </a:r>
            <a:r>
              <a:rPr sz="1200" b="0" i="0" u="none">
                <a:solidFill>
                  <a:srgbClr val="E2E8F0"/>
                </a:solidFill>
                <a:latin typeface="Fira Code"/>
              </a:rPr>
              <a:t>, </a:t>
            </a:r>
            <a:r>
              <a:rPr sz="1200" b="0" i="0" u="none">
                <a:solidFill>
                  <a:srgbClr val="93C5FD"/>
                </a:solidFill>
                <a:latin typeface="Fira Code"/>
              </a:rPr>
              <a:t>true</a:t>
            </a:r>
            <a:r>
              <a:rPr sz="1200" b="0" i="0" u="none">
                <a:solidFill>
                  <a:srgbClr val="E2E8F0"/>
                </a:solidFill>
                <a:latin typeface="Fira Code"/>
              </a:rPr>
              <a:t>); </a:t>
            </a:r>
            <a:r>
              <a:rPr lang="en-US" sz="1200" b="0" i="0" u="none">
                <a:solidFill>
                  <a:srgbClr val="E2E8F0"/>
                </a:solidFill>
                <a:latin typeface="Fira Code"/>
              </a:rPr>
              <a:t>	</a:t>
            </a:r>
            <a:r>
              <a:rPr sz="1200" b="0" i="0" u="none">
                <a:solidFill>
                  <a:srgbClr val="E2E8F0"/>
                </a:solidFill>
                <a:latin typeface="Fira Code"/>
              </a:rPr>
              <a:t>fw.write(transaction + </a:t>
            </a:r>
            <a:r>
              <a:rPr sz="1200" b="0" i="0" u="none">
                <a:solidFill>
                  <a:srgbClr val="A7F3D0"/>
                </a:solidFill>
                <a:latin typeface="Fira Code"/>
              </a:rPr>
              <a:t>"\n"</a:t>
            </a:r>
            <a:r>
              <a:rPr sz="1200" b="0" i="0" u="none">
                <a:solidFill>
                  <a:srgbClr val="E2E8F0"/>
                </a:solidFill>
                <a:latin typeface="Fira Code"/>
              </a:rPr>
              <a:t>); </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fw.close();</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System.out.println(</a:t>
            </a:r>
            <a:r>
              <a:rPr sz="1200" b="0" i="0" u="none">
                <a:solidFill>
                  <a:srgbClr val="A7F3D0"/>
                </a:solidFill>
                <a:latin typeface="Fira Code"/>
              </a:rPr>
              <a:t>"Saved successfully."</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E2E8F0"/>
                </a:solidFill>
                <a:latin typeface="Fira Code"/>
              </a:rPr>
              <a:t>} </a:t>
            </a:r>
            <a:r>
              <a:rPr sz="1200" b="0" i="0" u="none">
                <a:solidFill>
                  <a:srgbClr val="93C5FD"/>
                </a:solidFill>
                <a:latin typeface="Fira Code"/>
              </a:rPr>
              <a:t>catch</a:t>
            </a:r>
            <a:r>
              <a:rPr sz="1200" b="0" i="0" u="none">
                <a:solidFill>
                  <a:srgbClr val="E2E8F0"/>
                </a:solidFill>
                <a:latin typeface="Fira Code"/>
              </a:rPr>
              <a:t> (</a:t>
            </a:r>
            <a:r>
              <a:rPr sz="1200" b="0" i="0" u="none">
                <a:solidFill>
                  <a:srgbClr val="FCD34D"/>
                </a:solidFill>
                <a:latin typeface="Fira Code"/>
              </a:rPr>
              <a:t>IOException</a:t>
            </a:r>
            <a:r>
              <a:rPr sz="1200" b="0" i="0" u="none">
                <a:solidFill>
                  <a:srgbClr val="E2E8F0"/>
                </a:solidFill>
                <a:latin typeface="Fira Code"/>
              </a:rPr>
              <a:t> e) { </a:t>
            </a:r>
            <a:endParaRPr sz="1200" b="0" i="0" u="none">
              <a:solidFill>
                <a:srgbClr val="E2E8F0"/>
              </a:solidFill>
              <a:latin typeface="Fira Code"/>
            </a:endParaRPr>
          </a:p>
          <a:p>
            <a:pPr indent="457200" algn="l">
              <a:lnSpc>
                <a:spcPts val="1800"/>
              </a:lnSpc>
            </a:pPr>
            <a:r>
              <a:rPr sz="1200" b="0" i="0" u="none">
                <a:solidFill>
                  <a:srgbClr val="E2E8F0"/>
                </a:solidFill>
                <a:latin typeface="Fira Code"/>
              </a:rPr>
              <a:t>System.out.println(</a:t>
            </a:r>
            <a:r>
              <a:rPr sz="1200" b="0" i="0" u="none">
                <a:solidFill>
                  <a:srgbClr val="A7F3D0"/>
                </a:solidFill>
                <a:latin typeface="Fira Code"/>
              </a:rPr>
              <a:t>"Error saving."</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E2E8F0"/>
                </a:solidFill>
                <a:latin typeface="Fira Code"/>
              </a:rPr>
              <a:t>}</a:t>
            </a:r>
            <a:endParaRPr sz="1200" b="0" i="0" u="none">
              <a:solidFill>
                <a:srgbClr val="E2E8F0"/>
              </a:solidFill>
              <a:latin typeface="Fira Code"/>
            </a:endParaRPr>
          </a:p>
        </p:txBody>
      </p:sp>
      <p:sp>
        <p:nvSpPr>
          <p:cNvPr id="11" name="TextBox 10"/>
          <p:cNvSpPr txBox="1"/>
          <p:nvPr/>
        </p:nvSpPr>
        <p:spPr>
          <a:xfrm>
            <a:off x="904875" y="2566987"/>
            <a:ext cx="5095875" cy="457200"/>
          </a:xfrm>
          <a:prstGeom prst="rect">
            <a:avLst/>
          </a:prstGeom>
          <a:noFill/>
        </p:spPr>
        <p:txBody>
          <a:bodyPr wrap="square" lIns="0" tIns="0" rIns="0" bIns="0" anchor="t">
            <a:spAutoFit/>
          </a:bodyPr>
          <a:lstStyle/>
          <a:p>
            <a:pPr algn="l"/>
            <a:r>
              <a:rPr sz="1500" b="1" i="0" u="none">
                <a:solidFill>
                  <a:srgbClr val="2563EB"/>
                </a:solidFill>
                <a:latin typeface="Inter"/>
              </a:rPr>
              <a:t>String Handling:</a:t>
            </a:r>
            <a:r>
              <a:rPr sz="1500" b="0" i="0" u="none">
                <a:solidFill>
                  <a:srgbClr val="2563EB"/>
                </a:solidFill>
                <a:latin typeface="Inter"/>
              </a:rPr>
              <a:t> Formats and stores transaction details.</a:t>
            </a:r>
            <a:endParaRPr sz="1500" b="0" i="0" u="none">
              <a:solidFill>
                <a:srgbClr val="2563EB"/>
              </a:solidFill>
              <a:latin typeface="Inter"/>
            </a:endParaRPr>
          </a:p>
        </p:txBody>
      </p:sp>
      <p:sp>
        <p:nvSpPr>
          <p:cNvPr id="12" name="TextBox 11"/>
          <p:cNvSpPr txBox="1"/>
          <p:nvPr/>
        </p:nvSpPr>
        <p:spPr>
          <a:xfrm>
            <a:off x="904875" y="3176587"/>
            <a:ext cx="5095875" cy="457200"/>
          </a:xfrm>
          <a:prstGeom prst="rect">
            <a:avLst/>
          </a:prstGeom>
          <a:noFill/>
        </p:spPr>
        <p:txBody>
          <a:bodyPr wrap="square" lIns="0" tIns="0" rIns="0" bIns="0" anchor="t">
            <a:spAutoFit/>
          </a:bodyPr>
          <a:lstStyle/>
          <a:p>
            <a:pPr algn="l"/>
            <a:r>
              <a:rPr sz="1500" b="1" i="0" u="none">
                <a:solidFill>
                  <a:srgbClr val="2563EB"/>
                </a:solidFill>
                <a:latin typeface="Inter"/>
              </a:rPr>
              <a:t>File Handling:</a:t>
            </a:r>
            <a:r>
              <a:rPr sz="1500" b="0" i="0" u="none">
                <a:solidFill>
                  <a:srgbClr val="2563EB"/>
                </a:solidFill>
                <a:latin typeface="Inter"/>
              </a:rPr>
              <a:t> Writing permanent records to `transactions.txt`.</a:t>
            </a:r>
            <a:endParaRPr sz="1500" b="0" i="0" u="none">
              <a:solidFill>
                <a:srgbClr val="2563EB"/>
              </a:solidFill>
              <a:latin typeface="Inter"/>
            </a:endParaRPr>
          </a:p>
        </p:txBody>
      </p:sp>
      <p:sp>
        <p:nvSpPr>
          <p:cNvPr id="13" name="TextBox 12"/>
          <p:cNvSpPr txBox="1"/>
          <p:nvPr/>
        </p:nvSpPr>
        <p:spPr>
          <a:xfrm>
            <a:off x="904875" y="3786187"/>
            <a:ext cx="6324600" cy="228600"/>
          </a:xfrm>
          <a:prstGeom prst="rect">
            <a:avLst/>
          </a:prstGeom>
          <a:noFill/>
        </p:spPr>
        <p:txBody>
          <a:bodyPr wrap="none" lIns="0" tIns="0" rIns="0" bIns="0" anchor="t">
            <a:spAutoFit/>
          </a:bodyPr>
          <a:lstStyle/>
          <a:p>
            <a:pPr algn="l"/>
            <a:r>
              <a:rPr sz="1500" b="1" i="0" u="none">
                <a:solidFill>
                  <a:srgbClr val="2563EB"/>
                </a:solidFill>
                <a:latin typeface="Inter"/>
              </a:rPr>
              <a:t>Appending:</a:t>
            </a:r>
            <a:r>
              <a:rPr sz="1500" b="0" i="0" u="none">
                <a:solidFill>
                  <a:srgbClr val="2563EB"/>
                </a:solidFill>
                <a:latin typeface="Inter"/>
              </a:rPr>
              <a:t> Adds new records without data overwrite.</a:t>
            </a:r>
            <a:endParaRPr sz="1500" b="0" i="0" u="none">
              <a:solidFill>
                <a:srgbClr val="2563EB"/>
              </a:solidFill>
              <a:latin typeface="Inter"/>
            </a:endParaRPr>
          </a:p>
        </p:txBody>
      </p:sp>
      <p:sp>
        <p:nvSpPr>
          <p:cNvPr id="14" name="TextBox 13"/>
          <p:cNvSpPr txBox="1"/>
          <p:nvPr/>
        </p:nvSpPr>
        <p:spPr>
          <a:xfrm>
            <a:off x="876300" y="4548187"/>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Persistently stores ATM transaction details for historical reference.</a:t>
            </a:r>
            <a:endParaRPr sz="1200" b="0" i="0" u="none">
              <a:solidFill>
                <a:srgbClr val="1E3A8A"/>
              </a:solidFill>
              <a:latin typeface="Inter"/>
            </a:endParaRPr>
          </a:p>
        </p:txBody>
      </p:sp>
      <p:pic>
        <p:nvPicPr>
          <p:cNvPr id="15" name="Picture 14"/>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ounded Rectangle 1"/>
          <p:cNvSpPr/>
          <p:nvPr/>
        </p:nvSpPr>
        <p:spPr>
          <a:xfrm>
            <a:off x="609600" y="4538662"/>
            <a:ext cx="5295900" cy="838200"/>
          </a:xfrm>
          <a:prstGeom prst="roundRect">
            <a:avLst>
              <a:gd name="adj" fmla="val 909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86500" y="2095500"/>
            <a:ext cx="5295900" cy="2667000"/>
          </a:xfrm>
          <a:prstGeom prst="roundRect">
            <a:avLst>
              <a:gd name="adj" fmla="val 4285"/>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538662"/>
            <a:ext cx="38100" cy="8382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1"/>
          <a:stretch>
            <a:fillRect/>
          </a:stretch>
        </p:blipFill>
        <p:spPr>
          <a:xfrm>
            <a:off x="609600" y="2819400"/>
            <a:ext cx="219075" cy="200025"/>
          </a:xfrm>
          <a:prstGeom prst="rect">
            <a:avLst/>
          </a:prstGeom>
        </p:spPr>
      </p:pic>
      <p:pic>
        <p:nvPicPr>
          <p:cNvPr id="6" name="Picture 5" descr="image.png"/>
          <p:cNvPicPr>
            <a:picLocks noChangeAspect="1"/>
          </p:cNvPicPr>
          <p:nvPr/>
        </p:nvPicPr>
        <p:blipFill>
          <a:blip r:embed="rId1"/>
          <a:stretch>
            <a:fillRect/>
          </a:stretch>
        </p:blipFill>
        <p:spPr>
          <a:xfrm>
            <a:off x="609600" y="3429000"/>
            <a:ext cx="219075" cy="200025"/>
          </a:xfrm>
          <a:prstGeom prst="rect">
            <a:avLst/>
          </a:prstGeom>
        </p:spPr>
      </p:pic>
      <p:pic>
        <p:nvPicPr>
          <p:cNvPr id="7" name="Picture 6" descr="image.png"/>
          <p:cNvPicPr>
            <a:picLocks noChangeAspect="1"/>
          </p:cNvPicPr>
          <p:nvPr/>
        </p:nvPicPr>
        <p:blipFill>
          <a:blip r:embed="rId1"/>
          <a:stretch>
            <a:fillRect/>
          </a:stretch>
        </p:blipFill>
        <p:spPr>
          <a:xfrm>
            <a:off x="609600" y="4038600"/>
            <a:ext cx="219075" cy="200025"/>
          </a:xfrm>
          <a:prstGeom prst="rect">
            <a:avLst/>
          </a:prstGeom>
        </p:spPr>
      </p:pic>
      <p:sp>
        <p:nvSpPr>
          <p:cNvPr id="8" name="TextBox 7"/>
          <p:cNvSpPr txBox="1"/>
          <p:nvPr/>
        </p:nvSpPr>
        <p:spPr>
          <a:xfrm>
            <a:off x="609600" y="1481137"/>
            <a:ext cx="6619875" cy="200025"/>
          </a:xfrm>
          <a:prstGeom prst="rect">
            <a:avLst/>
          </a:prstGeom>
          <a:noFill/>
        </p:spPr>
        <p:txBody>
          <a:bodyPr wrap="none" lIns="0" tIns="0" rIns="0" bIns="0" anchor="t">
            <a:spAutoFit/>
          </a:bodyPr>
          <a:lstStyle/>
          <a:p>
            <a:pPr algn="l"/>
            <a:r>
              <a:rPr sz="1350" b="0" i="0" u="none">
                <a:solidFill>
                  <a:srgbClr val="64748B"/>
                </a:solidFill>
                <a:latin typeface="Inter"/>
              </a:rPr>
              <a:t>CO6</a:t>
            </a:r>
            <a:endParaRPr sz="1350" b="0" i="0" u="none">
              <a:solidFill>
                <a:srgbClr val="64748B"/>
              </a:solidFill>
              <a:latin typeface="Inter"/>
            </a:endParaRPr>
          </a:p>
        </p:txBody>
      </p:sp>
      <p:sp>
        <p:nvSpPr>
          <p:cNvPr id="9" name="TextBox 8"/>
          <p:cNvSpPr txBox="1"/>
          <p:nvPr/>
        </p:nvSpPr>
        <p:spPr>
          <a:xfrm>
            <a:off x="609600" y="1681162"/>
            <a:ext cx="5660707" cy="876300"/>
          </a:xfrm>
          <a:prstGeom prst="rect">
            <a:avLst/>
          </a:prstGeom>
          <a:noFill/>
        </p:spPr>
        <p:txBody>
          <a:bodyPr wrap="square" lIns="0" tIns="0" rIns="0" bIns="0" anchor="t">
            <a:spAutoFit/>
          </a:bodyPr>
          <a:lstStyle/>
          <a:p>
            <a:pPr algn="l"/>
            <a:r>
              <a:rPr sz="2700" b="1" i="0" u="none">
                <a:solidFill>
                  <a:srgbClr val="0F172A"/>
                </a:solidFill>
                <a:latin typeface="Space Grotesk"/>
              </a:rPr>
              <a:t>Collections &amp; Functional Programming</a:t>
            </a:r>
            <a:endParaRPr sz="2700" b="1" i="0" u="none">
              <a:solidFill>
                <a:srgbClr val="0F172A"/>
              </a:solidFill>
              <a:latin typeface="Space Grotesk"/>
            </a:endParaRPr>
          </a:p>
        </p:txBody>
      </p:sp>
      <p:sp>
        <p:nvSpPr>
          <p:cNvPr id="10" name="TextBox 9"/>
          <p:cNvSpPr txBox="1"/>
          <p:nvPr/>
        </p:nvSpPr>
        <p:spPr>
          <a:xfrm>
            <a:off x="6591300" y="2400300"/>
            <a:ext cx="4781550" cy="1384935"/>
          </a:xfrm>
          <a:prstGeom prst="rect">
            <a:avLst/>
          </a:prstGeom>
          <a:noFill/>
        </p:spPr>
        <p:txBody>
          <a:bodyPr wrap="square" lIns="0" tIns="0" rIns="0" bIns="0" anchor="t">
            <a:spAutoFit/>
          </a:bodyPr>
          <a:lstStyle/>
          <a:p>
            <a:pPr algn="l">
              <a:lnSpc>
                <a:spcPts val="1800"/>
              </a:lnSpc>
            </a:pPr>
            <a:r>
              <a:rPr sz="1200" b="0" i="0" u="none">
                <a:solidFill>
                  <a:srgbClr val="FCD34D"/>
                </a:solidFill>
                <a:latin typeface="Fira Code"/>
              </a:rPr>
              <a:t>ArrayList</a:t>
            </a:r>
            <a:r>
              <a:rPr sz="1200" b="0" i="0" u="none">
                <a:solidFill>
                  <a:srgbClr val="E2E8F0"/>
                </a:solidFill>
                <a:latin typeface="Fira Code"/>
              </a:rPr>
              <a:t>&lt;</a:t>
            </a:r>
            <a:r>
              <a:rPr sz="1200" b="0" i="0" u="none">
                <a:solidFill>
                  <a:srgbClr val="FCD34D"/>
                </a:solidFill>
                <a:latin typeface="Fira Code"/>
              </a:rPr>
              <a:t>String</a:t>
            </a:r>
            <a:r>
              <a:rPr sz="1200" b="0" i="0" u="none">
                <a:solidFill>
                  <a:srgbClr val="E2E8F0"/>
                </a:solidFill>
                <a:latin typeface="Fira Code"/>
              </a:rPr>
              <a:t>&gt; txns = </a:t>
            </a:r>
            <a:r>
              <a:rPr sz="1200" b="0" i="0" u="none">
                <a:solidFill>
                  <a:srgbClr val="93C5FD"/>
                </a:solidFill>
                <a:latin typeface="Fira Code"/>
              </a:rPr>
              <a:t>new</a:t>
            </a:r>
            <a:r>
              <a:rPr sz="1200" b="0" i="0" u="none">
                <a:solidFill>
                  <a:srgbClr val="E2E8F0"/>
                </a:solidFill>
                <a:latin typeface="Fira Code"/>
              </a:rPr>
              <a:t> </a:t>
            </a:r>
            <a:r>
              <a:rPr sz="1200" b="0" i="0" u="none">
                <a:solidFill>
                  <a:srgbClr val="FCD34D"/>
                </a:solidFill>
                <a:latin typeface="Fira Code"/>
              </a:rPr>
              <a:t>ArrayList</a:t>
            </a:r>
            <a:r>
              <a:rPr sz="1200" b="0" i="0" u="none">
                <a:solidFill>
                  <a:srgbClr val="E2E8F0"/>
                </a:solidFill>
                <a:latin typeface="Fira Code"/>
              </a:rPr>
              <a:t>&lt;&gt;(); </a:t>
            </a:r>
            <a:endParaRPr sz="1200" b="0" i="0" u="none">
              <a:solidFill>
                <a:srgbClr val="E2E8F0"/>
              </a:solidFill>
              <a:latin typeface="Fira Code"/>
            </a:endParaRPr>
          </a:p>
          <a:p>
            <a:pPr algn="l">
              <a:lnSpc>
                <a:spcPts val="1800"/>
              </a:lnSpc>
            </a:pPr>
            <a:r>
              <a:rPr sz="1200" b="0" i="0" u="none">
                <a:solidFill>
                  <a:srgbClr val="E2E8F0"/>
                </a:solidFill>
                <a:latin typeface="Fira Code"/>
              </a:rPr>
              <a:t>txns.add(</a:t>
            </a:r>
            <a:r>
              <a:rPr sz="1200" b="0" i="0" u="none">
                <a:solidFill>
                  <a:srgbClr val="A7F3D0"/>
                </a:solidFill>
                <a:latin typeface="Fira Code"/>
              </a:rPr>
              <a:t>"Deposit: Rs. 500"</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E2E8F0"/>
                </a:solidFill>
                <a:latin typeface="Fira Code"/>
              </a:rPr>
              <a:t>txns.add(</a:t>
            </a:r>
            <a:r>
              <a:rPr sz="1200" b="0" i="0" u="none">
                <a:solidFill>
                  <a:srgbClr val="A7F3D0"/>
                </a:solidFill>
                <a:latin typeface="Fira Code"/>
              </a:rPr>
              <a:t>"Withdraw: Rs. 200"</a:t>
            </a:r>
            <a:r>
              <a:rPr sz="1200" b="0" i="0" u="none">
                <a:solidFill>
                  <a:srgbClr val="E2E8F0"/>
                </a:solidFill>
                <a:latin typeface="Fira Code"/>
              </a:rPr>
              <a:t>); </a:t>
            </a:r>
            <a:endParaRPr sz="1200" b="0" i="0" u="none">
              <a:solidFill>
                <a:srgbClr val="E2E8F0"/>
              </a:solidFill>
              <a:latin typeface="Fira Code"/>
            </a:endParaRPr>
          </a:p>
          <a:p>
            <a:pPr algn="l">
              <a:lnSpc>
                <a:spcPts val="1800"/>
              </a:lnSpc>
            </a:pPr>
            <a:r>
              <a:rPr sz="1200" b="0" i="0" u="none">
                <a:solidFill>
                  <a:srgbClr val="E2E8F0"/>
                </a:solidFill>
                <a:latin typeface="Fira Code"/>
              </a:rPr>
              <a:t>System.out.println(</a:t>
            </a:r>
            <a:r>
              <a:rPr sz="1200" b="0" i="0" u="none">
                <a:solidFill>
                  <a:srgbClr val="A7F3D0"/>
                </a:solidFill>
                <a:latin typeface="Fira Code"/>
              </a:rPr>
              <a:t>"Deposit Transactions:"</a:t>
            </a:r>
            <a:r>
              <a:rPr sz="1200" b="0" i="0" u="none">
                <a:solidFill>
                  <a:srgbClr val="E2E8F0"/>
                </a:solidFill>
                <a:latin typeface="Fira Code"/>
              </a:rPr>
              <a:t>); txns.stream() .filter(t -&gt; t.startsWith(</a:t>
            </a:r>
            <a:r>
              <a:rPr sz="1200" b="0" i="0" u="none">
                <a:solidFill>
                  <a:srgbClr val="A7F3D0"/>
                </a:solidFill>
                <a:latin typeface="Fira Code"/>
              </a:rPr>
              <a:t>"Deposit"</a:t>
            </a:r>
            <a:r>
              <a:rPr sz="1200" b="0" i="0" u="none">
                <a:solidFill>
                  <a:srgbClr val="E2E8F0"/>
                </a:solidFill>
                <a:latin typeface="Fira Code"/>
              </a:rPr>
              <a:t>)) .forEach(t -&gt; System.out.println(t));</a:t>
            </a:r>
            <a:endParaRPr sz="1200" b="0" i="0" u="none">
              <a:solidFill>
                <a:srgbClr val="E2E8F0"/>
              </a:solidFill>
              <a:latin typeface="Fira Code"/>
            </a:endParaRPr>
          </a:p>
        </p:txBody>
      </p:sp>
      <p:sp>
        <p:nvSpPr>
          <p:cNvPr id="11" name="TextBox 10"/>
          <p:cNvSpPr txBox="1"/>
          <p:nvPr/>
        </p:nvSpPr>
        <p:spPr>
          <a:xfrm>
            <a:off x="981075" y="2786062"/>
            <a:ext cx="5019675" cy="457200"/>
          </a:xfrm>
          <a:prstGeom prst="rect">
            <a:avLst/>
          </a:prstGeom>
          <a:noFill/>
        </p:spPr>
        <p:txBody>
          <a:bodyPr wrap="square" lIns="0" tIns="0" rIns="0" bIns="0" anchor="t">
            <a:spAutoFit/>
          </a:bodyPr>
          <a:lstStyle/>
          <a:p>
            <a:pPr algn="l"/>
            <a:r>
              <a:rPr sz="1500" b="1" i="0" u="none">
                <a:solidFill>
                  <a:srgbClr val="2563EB"/>
                </a:solidFill>
                <a:latin typeface="Inter"/>
              </a:rPr>
              <a:t>ArrayList:</a:t>
            </a:r>
            <a:r>
              <a:rPr sz="1500" b="1" i="0" u="none">
                <a:solidFill>
                  <a:srgbClr val="2563EB"/>
                </a:solidFill>
                <a:latin typeface="Inter"/>
              </a:rPr>
              <a:t> Dynamic storage for multiple memory records.</a:t>
            </a:r>
            <a:endParaRPr sz="1500" b="1" i="0" u="none">
              <a:solidFill>
                <a:srgbClr val="2563EB"/>
              </a:solidFill>
              <a:latin typeface="Inter"/>
            </a:endParaRPr>
          </a:p>
        </p:txBody>
      </p:sp>
      <p:sp>
        <p:nvSpPr>
          <p:cNvPr id="12" name="TextBox 11"/>
          <p:cNvSpPr txBox="1"/>
          <p:nvPr/>
        </p:nvSpPr>
        <p:spPr>
          <a:xfrm>
            <a:off x="981075" y="3395662"/>
            <a:ext cx="5019675" cy="461645"/>
          </a:xfrm>
          <a:prstGeom prst="rect">
            <a:avLst/>
          </a:prstGeom>
          <a:noFill/>
        </p:spPr>
        <p:txBody>
          <a:bodyPr wrap="square" lIns="0" tIns="0" rIns="0" bIns="0" anchor="t">
            <a:spAutoFit/>
          </a:bodyPr>
          <a:lstStyle/>
          <a:p>
            <a:pPr algn="l"/>
            <a:r>
              <a:rPr sz="1500" b="1" i="0" u="none">
                <a:solidFill>
                  <a:srgbClr val="2563EB"/>
                </a:solidFill>
                <a:latin typeface="Inter"/>
              </a:rPr>
              <a:t>Lambda Expressions: Concise functions for inline processing.</a:t>
            </a:r>
            <a:endParaRPr sz="1500" b="1" i="0" u="none">
              <a:solidFill>
                <a:srgbClr val="2563EB"/>
              </a:solidFill>
              <a:latin typeface="Inter"/>
            </a:endParaRPr>
          </a:p>
        </p:txBody>
      </p:sp>
      <p:sp>
        <p:nvSpPr>
          <p:cNvPr id="13" name="TextBox 12"/>
          <p:cNvSpPr txBox="1"/>
          <p:nvPr/>
        </p:nvSpPr>
        <p:spPr>
          <a:xfrm>
            <a:off x="981075" y="4005262"/>
            <a:ext cx="6248400" cy="228600"/>
          </a:xfrm>
          <a:prstGeom prst="rect">
            <a:avLst/>
          </a:prstGeom>
          <a:noFill/>
        </p:spPr>
        <p:txBody>
          <a:bodyPr wrap="none" lIns="0" tIns="0" rIns="0" bIns="0" anchor="t">
            <a:spAutoFit/>
          </a:bodyPr>
          <a:lstStyle/>
          <a:p>
            <a:pPr algn="l"/>
            <a:r>
              <a:rPr sz="1500" b="1" i="0" u="none">
                <a:solidFill>
                  <a:srgbClr val="2563EB"/>
                </a:solidFill>
                <a:latin typeface="Inter"/>
              </a:rPr>
              <a:t>Streams:</a:t>
            </a:r>
            <a:r>
              <a:rPr sz="1500" b="1" i="0" u="none">
                <a:solidFill>
                  <a:srgbClr val="2563EB"/>
                </a:solidFill>
                <a:latin typeface="Inter"/>
              </a:rPr>
              <a:t> Efficient filtering of specific conditions.</a:t>
            </a:r>
            <a:endParaRPr sz="1500" b="1" i="0" u="none">
              <a:solidFill>
                <a:srgbClr val="2563EB"/>
              </a:solidFill>
              <a:latin typeface="Inter"/>
            </a:endParaRPr>
          </a:p>
        </p:txBody>
      </p:sp>
      <p:sp>
        <p:nvSpPr>
          <p:cNvPr id="14" name="TextBox 13"/>
          <p:cNvSpPr txBox="1"/>
          <p:nvPr/>
        </p:nvSpPr>
        <p:spPr>
          <a:xfrm>
            <a:off x="876300" y="4767262"/>
            <a:ext cx="4895850" cy="381000"/>
          </a:xfrm>
          <a:prstGeom prst="rect">
            <a:avLst/>
          </a:prstGeom>
          <a:noFill/>
        </p:spPr>
        <p:txBody>
          <a:bodyPr wrap="square" lIns="0" tIns="0" rIns="0" bIns="0" anchor="t">
            <a:spAutoFit/>
          </a:bodyPr>
          <a:lstStyle/>
          <a:p>
            <a:pPr algn="l"/>
            <a:r>
              <a:rPr sz="1200" b="1" i="0" u="none">
                <a:solidFill>
                  <a:srgbClr val="1E3A8A"/>
                </a:solidFill>
                <a:latin typeface="Inter"/>
              </a:rPr>
              <a:t>Outcome:</a:t>
            </a:r>
            <a:r>
              <a:rPr sz="1200" b="0" i="0" u="none">
                <a:solidFill>
                  <a:srgbClr val="1E3A8A"/>
                </a:solidFill>
                <a:latin typeface="Inter"/>
              </a:rPr>
              <a:t> Filters and displays specific history using advanced Java collections.</a:t>
            </a:r>
            <a:endParaRPr sz="1200" b="0" i="0" u="none">
              <a:solidFill>
                <a:srgbClr val="1E3A8A"/>
              </a:solidFill>
              <a:latin typeface="Inter"/>
            </a:endParaRPr>
          </a:p>
        </p:txBody>
      </p:sp>
      <p:pic>
        <p:nvPicPr>
          <p:cNvPr id="15" name="Picture 14"/>
          <p:cNvPicPr/>
          <p:nvPr/>
        </p:nvPicPr>
        <p:blipFill>
          <a:blip r:embed="rId2"/>
          <a:stretch>
            <a:fillRect/>
          </a:stretch>
        </p:blipFill>
        <p:spPr>
          <a:xfrm>
            <a:off x="9848215" y="-450215"/>
            <a:ext cx="2011045" cy="15671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8" name="TextBox 27"/>
          <p:cNvSpPr txBox="1"/>
          <p:nvPr/>
        </p:nvSpPr>
        <p:spPr>
          <a:xfrm>
            <a:off x="609600" y="142875"/>
            <a:ext cx="2185035" cy="415290"/>
          </a:xfrm>
          <a:prstGeom prst="rect">
            <a:avLst/>
          </a:prstGeom>
          <a:noFill/>
        </p:spPr>
        <p:txBody>
          <a:bodyPr wrap="none" lIns="0" tIns="0" rIns="0" bIns="0" anchor="t">
            <a:spAutoFit/>
          </a:bodyPr>
          <a:lstStyle/>
          <a:p>
            <a:pPr algn="l"/>
            <a:r>
              <a:rPr lang="en-US" sz="2700" b="1" i="0" u="none">
                <a:solidFill>
                  <a:srgbClr val="0F172A"/>
                </a:solidFill>
                <a:latin typeface="Space Grotesk"/>
              </a:rPr>
              <a:t>Screen Shots</a:t>
            </a:r>
            <a:endParaRPr lang="en-US" sz="2700" b="1" i="0" u="none">
              <a:solidFill>
                <a:srgbClr val="0F172A"/>
              </a:solidFill>
              <a:latin typeface="Space Grotesk"/>
            </a:endParaRPr>
          </a:p>
        </p:txBody>
      </p:sp>
      <p:pic>
        <p:nvPicPr>
          <p:cNvPr id="31" name="Picture 30" descr="2a3dc4ad-847c-4a76-b110-96e412866c8b"/>
          <p:cNvPicPr>
            <a:picLocks noChangeAspect="1"/>
          </p:cNvPicPr>
          <p:nvPr/>
        </p:nvPicPr>
        <p:blipFill>
          <a:blip r:embed="rId1"/>
          <a:stretch>
            <a:fillRect/>
          </a:stretch>
        </p:blipFill>
        <p:spPr>
          <a:xfrm>
            <a:off x="487680" y="873125"/>
            <a:ext cx="10904855" cy="5635625"/>
          </a:xfrm>
          <a:prstGeom prst="rect">
            <a:avLst/>
          </a:prstGeom>
        </p:spPr>
      </p:pic>
      <p:pic>
        <p:nvPicPr>
          <p:cNvPr id="3" name="Picture 2"/>
          <p:cNvPicPr/>
          <p:nvPr/>
        </p:nvPicPr>
        <p:blipFill>
          <a:blip r:embed="rId2"/>
          <a:stretch>
            <a:fillRect/>
          </a:stretch>
        </p:blipFill>
        <p:spPr>
          <a:xfrm>
            <a:off x="9848215" y="-518160"/>
            <a:ext cx="2011045" cy="15671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p:sp>
        <p:nvSpPr>
          <p:cNvPr id="2" name="Rounded Rectangle 1"/>
          <p:cNvSpPr/>
          <p:nvPr/>
        </p:nvSpPr>
        <p:spPr>
          <a:xfrm>
            <a:off x="1479550" y="3836670"/>
            <a:ext cx="4938395" cy="523875"/>
          </a:xfrm>
          <a:prstGeom prst="roundRect">
            <a:avLst>
              <a:gd name="adj" fmla="val 14545"/>
            </a:avLst>
          </a:prstGeom>
          <a:no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1"/>
          <a:stretch>
            <a:fillRect/>
          </a:stretch>
        </p:blipFill>
        <p:spPr>
          <a:xfrm>
            <a:off x="1793875" y="4017645"/>
            <a:ext cx="152400" cy="152400"/>
          </a:xfrm>
          <a:prstGeom prst="rect">
            <a:avLst/>
          </a:prstGeom>
        </p:spPr>
      </p:pic>
      <p:sp>
        <p:nvSpPr>
          <p:cNvPr id="4" name="TextBox 3"/>
          <p:cNvSpPr txBox="1"/>
          <p:nvPr/>
        </p:nvSpPr>
        <p:spPr>
          <a:xfrm>
            <a:off x="2312987" y="2112645"/>
            <a:ext cx="3000375" cy="581025"/>
          </a:xfrm>
          <a:prstGeom prst="rect">
            <a:avLst/>
          </a:prstGeom>
          <a:noFill/>
        </p:spPr>
        <p:txBody>
          <a:bodyPr wrap="none" lIns="0" tIns="0" rIns="0" bIns="0" anchor="t">
            <a:spAutoFit/>
          </a:bodyPr>
          <a:lstStyle/>
          <a:p>
            <a:pPr algn="ctr"/>
            <a:r>
              <a:rPr sz="3600" b="1" i="0" u="none">
                <a:solidFill>
                  <a:srgbClr val="F8FAFC"/>
                </a:solidFill>
                <a:latin typeface="Space Grotesk"/>
              </a:rPr>
              <a:t>Thank You</a:t>
            </a:r>
            <a:endParaRPr sz="3600" b="1" i="0" u="none">
              <a:solidFill>
                <a:srgbClr val="F8FAFC"/>
              </a:solidFill>
              <a:latin typeface="Space Grotesk"/>
            </a:endParaRPr>
          </a:p>
        </p:txBody>
      </p:sp>
      <p:sp>
        <p:nvSpPr>
          <p:cNvPr id="5" name="TextBox 4"/>
          <p:cNvSpPr txBox="1"/>
          <p:nvPr/>
        </p:nvSpPr>
        <p:spPr>
          <a:xfrm>
            <a:off x="241300" y="2922270"/>
            <a:ext cx="7143750" cy="457200"/>
          </a:xfrm>
          <a:prstGeom prst="rect">
            <a:avLst/>
          </a:prstGeom>
          <a:noFill/>
        </p:spPr>
        <p:txBody>
          <a:bodyPr wrap="square" lIns="0" tIns="0" rIns="0" bIns="0" anchor="t">
            <a:spAutoFit/>
          </a:bodyPr>
          <a:lstStyle/>
          <a:p>
            <a:pPr algn="ctr"/>
            <a:r>
              <a:rPr sz="1500" b="0" i="0" u="none">
                <a:solidFill>
                  <a:srgbClr val="94A3B8"/>
                </a:solidFill>
                <a:latin typeface="Inter"/>
              </a:rPr>
              <a:t>The ATM Transaction Simulator serves as a solid foundation for developing comprehensive Java banking applications.</a:t>
            </a:r>
            <a:endParaRPr sz="1500" b="0" i="0" u="none">
              <a:solidFill>
                <a:srgbClr val="94A3B8"/>
              </a:solidFill>
              <a:latin typeface="Inter"/>
            </a:endParaRPr>
          </a:p>
        </p:txBody>
      </p:sp>
      <p:sp>
        <p:nvSpPr>
          <p:cNvPr id="6" name="TextBox 5"/>
          <p:cNvSpPr txBox="1"/>
          <p:nvPr/>
        </p:nvSpPr>
        <p:spPr>
          <a:xfrm>
            <a:off x="1793558" y="3985895"/>
            <a:ext cx="4432935" cy="184150"/>
          </a:xfrm>
          <a:prstGeom prst="rect">
            <a:avLst/>
          </a:prstGeom>
          <a:noFill/>
        </p:spPr>
        <p:txBody>
          <a:bodyPr wrap="none" lIns="228600" tIns="0" rIns="0" bIns="0" anchor="t">
            <a:spAutoFit/>
          </a:bodyPr>
          <a:lstStyle/>
          <a:p>
            <a:pPr algn="ctr"/>
            <a:r>
              <a:rPr lang="en-US" sz="1200" b="0" i="0" u="none">
                <a:solidFill>
                  <a:srgbClr val="CBD5E1"/>
                </a:solidFill>
                <a:latin typeface="Fira Code"/>
              </a:rPr>
              <a:t>github.com</a:t>
            </a:r>
            <a:r>
              <a:rPr sz="1200" b="0" i="0" u="none">
                <a:solidFill>
                  <a:srgbClr val="CBD5E1"/>
                </a:solidFill>
                <a:latin typeface="Fira Code"/>
              </a:rPr>
              <a:t>/Keerthan858/KLH-FED-2026-Java-Section-3</a:t>
            </a:r>
            <a:endParaRPr sz="1200" b="0" i="0" u="none">
              <a:solidFill>
                <a:srgbClr val="CBD5E1"/>
              </a:solidFill>
              <a:latin typeface="Fira Code"/>
            </a:endParaRPr>
          </a:p>
        </p:txBody>
      </p:sp>
      <p:pic>
        <p:nvPicPr>
          <p:cNvPr id="10" name="Picture 9"/>
          <p:cNvPicPr/>
          <p:nvPr/>
        </p:nvPicPr>
        <p:blipFill>
          <a:blip r:embed="rId2"/>
          <a:stretch>
            <a:fillRect/>
          </a:stretch>
        </p:blipFill>
        <p:spPr>
          <a:xfrm>
            <a:off x="9125585" y="0"/>
            <a:ext cx="3066415" cy="1217930"/>
          </a:xfrm>
          <a:prstGeom prst="rect">
            <a:avLst/>
          </a:prstGeom>
        </p:spPr>
      </p:pic>
      <p:pic>
        <p:nvPicPr>
          <p:cNvPr id="12" name="Picture 11" descr="2026-10-16 12.12.26"/>
          <p:cNvPicPr>
            <a:picLocks noChangeAspect="1"/>
          </p:cNvPicPr>
          <p:nvPr/>
        </p:nvPicPr>
        <p:blipFill>
          <a:blip r:embed="rId3"/>
          <a:stretch>
            <a:fillRect/>
          </a:stretch>
        </p:blipFill>
        <p:spPr>
          <a:xfrm>
            <a:off x="7385050" y="1796415"/>
            <a:ext cx="4716145" cy="35369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5510</Words>
  <Application>WPS Presentation</Application>
  <PresentationFormat>On-screen Show (4:3)</PresentationFormat>
  <Paragraphs>181</Paragraphs>
  <Slides>11</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11</vt:i4>
      </vt:variant>
    </vt:vector>
  </HeadingPairs>
  <TitlesOfParts>
    <vt:vector size="26" baseType="lpstr">
      <vt:lpstr>Arial</vt:lpstr>
      <vt:lpstr>SimSun</vt:lpstr>
      <vt:lpstr>Wingdings</vt:lpstr>
      <vt:lpstr>Arial</vt:lpstr>
      <vt:lpstr>Inter</vt:lpstr>
      <vt:lpstr>Thonburi</vt:lpstr>
      <vt:lpstr>Space Grotesk</vt:lpstr>
      <vt:lpstr>Fira Code</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Keerthan Ande</cp:lastModifiedBy>
  <cp:revision>13</cp:revision>
  <dcterms:created xsi:type="dcterms:W3CDTF">2026-10-16T06:45:56Z</dcterms:created>
  <dcterms:modified xsi:type="dcterms:W3CDTF">2026-10-16T06:45:56Z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1033-12.1.28496.28496</vt:lpwstr>
  </property>
  <property fmtid="{D5CDD505-2E9C-101B-9397-08002B2CF9AE}" pid="3" name="ICV">
    <vt:lpwstr>13EF70936C2F6E792FB9D16A3000E24D_43</vt:lpwstr>
  </property>
</Properties>
</file>