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8"/>
  </p:notesMasterIdLst>
  <p:sldIdLst>
    <p:sldId id="256" r:id="rId3"/>
    <p:sldId id="283" r:id="rId4"/>
    <p:sldId id="270" r:id="rId5"/>
    <p:sldId id="277" r:id="rId6"/>
    <p:sldId id="278" r:id="rId7"/>
    <p:sldId id="279" r:id="rId9"/>
    <p:sldId id="280" r:id="rId10"/>
    <p:sldId id="281" r:id="rId11"/>
    <p:sldId id="282" r:id="rId12"/>
    <p:sldId id="262" r:id="rId13"/>
    <p:sldId id="263" r:id="rId14"/>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17" userDrawn="1">
          <p15:clr>
            <a:srgbClr val="A4A3A4"/>
          </p15:clr>
        </p15:guide>
        <p15:guide id="2" pos="290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showGuides="1">
      <p:cViewPr varScale="1">
        <p:scale>
          <a:sx n="124" d="100"/>
          <a:sy n="124" d="100"/>
        </p:scale>
        <p:origin x="-1512" y="-112"/>
      </p:cViewPr>
      <p:guideLst>
        <p:guide orient="horz" pos="2117"/>
        <p:guide pos="2905"/>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notesMaster" Target="notesMasters/notesMaster1.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7" Type="http://schemas.openxmlformats.org/officeDocument/2006/relationships/tableStyles" Target="tableStyles.xml"/><Relationship Id="rId16" Type="http://schemas.openxmlformats.org/officeDocument/2006/relationships/viewProps" Target="viewProps.xml"/><Relationship Id="rId15" Type="http://schemas.openxmlformats.org/officeDocument/2006/relationships/presProps" Target="presProps.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685943" y="1143000"/>
            <a:ext cx="5486114"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9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9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9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pn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21C2A"/>
        </a:solidFill>
        <a:effectLst/>
      </p:bgPr>
    </p:bg>
    <p:spTree>
      <p:nvGrpSpPr>
        <p:cNvPr id="1" name=""/>
        <p:cNvGrpSpPr/>
        <p:nvPr/>
      </p:nvGrpSpPr>
      <p:grpSpPr/>
      <p:sp>
        <p:nvSpPr>
          <p:cNvPr id="2" name="TextBox 1"/>
          <p:cNvSpPr txBox="1"/>
          <p:nvPr/>
        </p:nvSpPr>
        <p:spPr>
          <a:xfrm>
            <a:off x="914400" y="1828800"/>
            <a:ext cx="10332720" cy="1463040"/>
          </a:xfrm>
          <a:prstGeom prst="rect">
            <a:avLst/>
          </a:prstGeom>
          <a:noFill/>
        </p:spPr>
        <p:txBody>
          <a:bodyPr wrap="none">
            <a:spAutoFit/>
          </a:bodyPr>
          <a:lstStyle/>
          <a:p>
            <a:pPr algn="ctr">
              <a:defRPr sz="4000" b="1">
                <a:solidFill>
                  <a:srgbClr val="FFFFFF"/>
                </a:solidFill>
              </a:defRPr>
            </a:pPr>
            <a:r>
              <a:t>ATM TRANSACTION</a:t>
            </a:r>
            <a:br/>
            <a:r>
              <a:t>SIMULATOR</a:t>
            </a:r>
          </a:p>
        </p:txBody>
      </p:sp>
      <p:sp>
        <p:nvSpPr>
          <p:cNvPr id="3" name="TextBox 2"/>
          <p:cNvSpPr txBox="1"/>
          <p:nvPr/>
        </p:nvSpPr>
        <p:spPr>
          <a:xfrm>
            <a:off x="2345690" y="3703320"/>
            <a:ext cx="7470140" cy="398780"/>
          </a:xfrm>
          <a:prstGeom prst="rect">
            <a:avLst/>
          </a:prstGeom>
          <a:noFill/>
        </p:spPr>
        <p:txBody>
          <a:bodyPr wrap="none">
            <a:spAutoFit/>
          </a:bodyPr>
          <a:lstStyle/>
          <a:p>
            <a:pPr algn="ctr">
              <a:defRPr sz="2000">
                <a:solidFill>
                  <a:srgbClr val="BED2E6"/>
                </a:solidFill>
              </a:defRPr>
            </a:pPr>
            <a:r>
              <a:rPr lang="en-US" altLang="en-US">
                <a:solidFill>
                  <a:schemeClr val="tx2">
                    <a:lumMod val="40000"/>
                    <a:lumOff val="60000"/>
                  </a:schemeClr>
                </a:solidFill>
              </a:rPr>
              <a:t>https://github.com/Keerthan858/KLH-FED-2026-Java-Section-3</a:t>
            </a:r>
            <a:endParaRPr lang="en-US" altLang="en-US">
              <a:solidFill>
                <a:schemeClr val="tx2">
                  <a:lumMod val="40000"/>
                  <a:lumOff val="60000"/>
                </a:schemeClr>
              </a:solidFill>
            </a:endParaRPr>
          </a:p>
        </p:txBody>
      </p:sp>
      <p:sp>
        <p:nvSpPr>
          <p:cNvPr id="4" name="TextBox 3"/>
          <p:cNvSpPr txBox="1"/>
          <p:nvPr/>
        </p:nvSpPr>
        <p:spPr>
          <a:xfrm>
            <a:off x="4478020" y="4617720"/>
            <a:ext cx="3205480" cy="1607820"/>
          </a:xfrm>
          <a:prstGeom prst="rect">
            <a:avLst/>
          </a:prstGeom>
          <a:noFill/>
        </p:spPr>
        <p:txBody>
          <a:bodyPr wrap="none">
            <a:noAutofit/>
          </a:bodyPr>
          <a:lstStyle/>
          <a:p>
            <a:pPr algn="ctr">
              <a:defRPr sz="1600">
                <a:solidFill>
                  <a:srgbClr val="FFFFFF"/>
                </a:solidFill>
              </a:defRPr>
            </a:pPr>
            <a:r>
              <a:rPr lang="en-US">
                <a:solidFill>
                  <a:schemeClr val="tx2">
                    <a:lumMod val="40000"/>
                    <a:lumOff val="60000"/>
                  </a:schemeClr>
                </a:solidFill>
              </a:rPr>
              <a:t>Batch - 11</a:t>
            </a:r>
            <a:endParaRPr lang="en-US">
              <a:solidFill>
                <a:schemeClr val="tx2">
                  <a:lumMod val="40000"/>
                  <a:lumOff val="60000"/>
                </a:schemeClr>
              </a:solidFill>
            </a:endParaRPr>
          </a:p>
          <a:p>
            <a:pPr algn="ctr">
              <a:defRPr sz="1600">
                <a:solidFill>
                  <a:srgbClr val="FFFFFF"/>
                </a:solidFill>
              </a:defRPr>
            </a:pPr>
            <a:br>
              <a:rPr lang="en-US">
                <a:solidFill>
                  <a:schemeClr val="tx2">
                    <a:lumMod val="40000"/>
                    <a:lumOff val="60000"/>
                  </a:schemeClr>
                </a:solidFill>
              </a:rPr>
            </a:br>
            <a:r>
              <a:rPr lang="en-US">
                <a:solidFill>
                  <a:schemeClr val="tx2">
                    <a:lumMod val="40000"/>
                    <a:lumOff val="60000"/>
                  </a:schemeClr>
                </a:solidFill>
              </a:rPr>
              <a:t>Team Members:- </a:t>
            </a:r>
            <a:endParaRPr lang="en-US">
              <a:solidFill>
                <a:schemeClr val="tx2">
                  <a:lumMod val="40000"/>
                  <a:lumOff val="60000"/>
                </a:schemeClr>
              </a:solidFill>
            </a:endParaRPr>
          </a:p>
          <a:p>
            <a:pPr algn="ctr">
              <a:defRPr sz="1600">
                <a:solidFill>
                  <a:srgbClr val="FFFFFF"/>
                </a:solidFill>
              </a:defRPr>
            </a:pPr>
            <a:br>
              <a:rPr lang="en-US">
                <a:solidFill>
                  <a:schemeClr val="tx2">
                    <a:lumMod val="40000"/>
                    <a:lumOff val="60000"/>
                  </a:schemeClr>
                </a:solidFill>
              </a:rPr>
            </a:br>
            <a:r>
              <a:rPr lang="en-US">
                <a:solidFill>
                  <a:schemeClr val="tx2">
                    <a:lumMod val="40000"/>
                    <a:lumOff val="60000"/>
                  </a:schemeClr>
                </a:solidFill>
              </a:rPr>
              <a:t>ANDE KEERTHAN - 2620030661</a:t>
            </a:r>
            <a:br>
              <a:rPr lang="en-US">
                <a:solidFill>
                  <a:schemeClr val="tx2">
                    <a:lumMod val="40000"/>
                    <a:lumOff val="60000"/>
                  </a:schemeClr>
                </a:solidFill>
              </a:rPr>
            </a:br>
            <a:r>
              <a:rPr lang="en-US">
                <a:solidFill>
                  <a:schemeClr val="tx2">
                    <a:lumMod val="40000"/>
                    <a:lumOff val="60000"/>
                  </a:schemeClr>
                </a:solidFill>
              </a:rPr>
              <a:t>MAMIDI YUVARAJ - 2620030680</a:t>
            </a:r>
            <a:endParaRPr lang="en-US">
              <a:solidFill>
                <a:schemeClr val="tx2">
                  <a:lumMod val="40000"/>
                  <a:lumOff val="60000"/>
                </a:schemeClr>
              </a:solidFill>
            </a:endParaRPr>
          </a:p>
        </p:txBody>
      </p:sp>
      <p:sp>
        <p:nvSpPr>
          <p:cNvPr id="5" name="TextBox 4"/>
          <p:cNvSpPr txBox="1"/>
          <p:nvPr/>
        </p:nvSpPr>
        <p:spPr>
          <a:xfrm>
            <a:off x="548640" y="6583680"/>
            <a:ext cx="11327130" cy="213995"/>
          </a:xfrm>
          <a:prstGeom prst="rect">
            <a:avLst/>
          </a:prstGeom>
          <a:noFill/>
        </p:spPr>
        <p:txBody>
          <a:bodyPr wrap="none">
            <a:spAutoFit/>
          </a:bodyPr>
          <a:lstStyle/>
          <a:p>
            <a:pPr algn="l">
              <a:defRPr sz="800">
                <a:solidFill>
                  <a:srgbClr val="6E7882"/>
                </a:solidFill>
              </a:defRPr>
            </a:pPr>
            <a:r>
              <a:t>ATM Transaction Simulator  •  Java Project                                      1</a:t>
            </a:r>
            <a:r>
              <a:rPr lang="en-US"/>
              <a:t>  												</a:t>
            </a:r>
            <a:r>
              <a:rPr lang="en-US" altLang="en-US">
                <a:solidFill>
                  <a:schemeClr val="tx2">
                    <a:lumMod val="40000"/>
                    <a:lumOff val="60000"/>
                  </a:schemeClr>
                </a:solidFill>
                <a:sym typeface="+mn-ea"/>
              </a:rPr>
              <a:t>https://github.com/Keerthan858/KLH-FED-2026-Java-Section-3</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40080" y="195580"/>
            <a:ext cx="1734185" cy="553085"/>
          </a:xfrm>
          <a:prstGeom prst="rect">
            <a:avLst/>
          </a:prstGeom>
          <a:noFill/>
        </p:spPr>
        <p:txBody>
          <a:bodyPr wrap="none">
            <a:spAutoFit/>
          </a:bodyPr>
          <a:lstStyle/>
          <a:p>
            <a:pPr>
              <a:defRPr sz="3000" b="1"/>
            </a:pPr>
            <a:r>
              <a:rPr lang="en-US"/>
              <a:t>Abstract</a:t>
            </a:r>
            <a:endParaRPr lang="en-US"/>
          </a:p>
        </p:txBody>
      </p:sp>
      <p:sp>
        <p:nvSpPr>
          <p:cNvPr id="9" name="Rounded Rectangle 8"/>
          <p:cNvSpPr/>
          <p:nvPr/>
        </p:nvSpPr>
        <p:spPr>
          <a:xfrm>
            <a:off x="2636520" y="3839210"/>
            <a:ext cx="4471670" cy="2026285"/>
          </a:xfrm>
          <a:prstGeom prst="roundRect">
            <a:avLst/>
          </a:prstGeom>
          <a:solidFill>
            <a:srgbClr val="FFFFFF"/>
          </a:solidFill>
          <a:ln>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67335" y="964565"/>
            <a:ext cx="11555095" cy="4420235"/>
          </a:xfrm>
          <a:prstGeom prst="rect">
            <a:avLst/>
          </a:prstGeom>
          <a:noFill/>
        </p:spPr>
        <p:txBody>
          <a:bodyPr wrap="square">
            <a:noAutofit/>
          </a:bodyPr>
          <a:lstStyle/>
          <a:p>
            <a:pPr>
              <a:spcAft>
                <a:spcPts val="1800"/>
              </a:spcAft>
              <a:defRPr sz="2100"/>
            </a:pPr>
            <a:endParaRPr lang="en-US" altLang="en-US">
              <a:latin typeface="Times New Roman Regular" panose="02020503050405090304" charset="0"/>
              <a:cs typeface="Times New Roman Regular" panose="02020503050405090304" charset="0"/>
            </a:endParaRPr>
          </a:p>
        </p:txBody>
      </p:sp>
      <p:sp>
        <p:nvSpPr>
          <p:cNvPr id="5" name="Text Box 4"/>
          <p:cNvSpPr txBox="1"/>
          <p:nvPr/>
        </p:nvSpPr>
        <p:spPr>
          <a:xfrm>
            <a:off x="267335" y="6555740"/>
            <a:ext cx="11798300" cy="212090"/>
          </a:xfrm>
          <a:prstGeom prst="rect">
            <a:avLst/>
          </a:prstGeom>
          <a:noFill/>
        </p:spPr>
        <p:txBody>
          <a:bodyPr wrap="square" rtlCol="0" anchor="t">
            <a:noAutofit/>
          </a:bodyPr>
          <a:p>
            <a:pPr algn="l">
              <a:defRPr sz="800">
                <a:solidFill>
                  <a:srgbClr val="6E7882"/>
                </a:solidFill>
              </a:defRPr>
            </a:pPr>
            <a:r>
              <a:rPr sz="1200">
                <a:sym typeface="+mn-ea"/>
              </a:rPr>
              <a:t>ATM Transaction Simulator  •  Java Project                                      </a:t>
            </a:r>
            <a:r>
              <a:rPr lang="en-US" sz="1200">
                <a:sym typeface="+mn-ea"/>
              </a:rPr>
              <a:t>	                          </a:t>
            </a:r>
            <a:r>
              <a:rPr sz="1200">
                <a:sym typeface="+mn-ea"/>
              </a:rPr>
              <a:t>1</a:t>
            </a:r>
            <a:r>
              <a:rPr lang="en-US" sz="1200">
                <a:sym typeface="+mn-ea"/>
              </a:rPr>
              <a:t>                                </a:t>
            </a:r>
            <a:r>
              <a:rPr lang="en-US" altLang="en-US" sz="1200">
                <a:solidFill>
                  <a:schemeClr val="tx2">
                    <a:lumMod val="40000"/>
                    <a:lumOff val="60000"/>
                  </a:schemeClr>
                </a:solidFill>
                <a:sym typeface="+mn-ea"/>
              </a:rPr>
              <a:t>https://github.com/Keerthan858/KLH-FED-2026-Java-Section-3</a:t>
            </a:r>
            <a:endParaRPr lang="en-US" sz="1200"/>
          </a:p>
        </p:txBody>
      </p:sp>
      <p:sp>
        <p:nvSpPr>
          <p:cNvPr id="7" name="Text Box 6"/>
          <p:cNvSpPr txBox="1"/>
          <p:nvPr/>
        </p:nvSpPr>
        <p:spPr>
          <a:xfrm>
            <a:off x="640080" y="831850"/>
            <a:ext cx="11036935" cy="2924175"/>
          </a:xfrm>
          <a:prstGeom prst="rect">
            <a:avLst/>
          </a:prstGeom>
        </p:spPr>
        <p:txBody>
          <a:bodyPr wrap="square">
            <a:noAutofit/>
          </a:bodyPr>
          <a:p>
            <a:r>
              <a:rPr>
                <a:latin typeface="Arial Regular" panose="020B0604020202090204" charset="0"/>
                <a:cs typeface="Arial Regular" panose="020B0604020202090204" charset="0"/>
              </a:rPr>
              <a:t>The ATM Transaction Simulator is a Java-based application designed to demonstrate essential ATM operations, including PIN authentication, balance inquiry, cash deposits, and withdrawals. It provides an interactive interface for understanding how banking transactions are authenticated, validated, and processed.</a:t>
            </a:r>
            <a:endParaRPr>
              <a:latin typeface="Arial Regular" panose="020B0604020202090204" charset="0"/>
              <a:cs typeface="Arial Regular" panose="020B0604020202090204" charset="0"/>
            </a:endParaRPr>
          </a:p>
          <a:p>
            <a:endParaRPr>
              <a:latin typeface="Arial Regular" panose="020B0604020202090204" charset="0"/>
              <a:cs typeface="Arial Regular" panose="020B0604020202090204" charset="0"/>
            </a:endParaRPr>
          </a:p>
          <a:p>
            <a:r>
              <a:rPr>
                <a:latin typeface="Arial Regular" panose="020B0604020202090204" charset="0"/>
                <a:cs typeface="Arial Regular" panose="020B0604020202090204" charset="0"/>
              </a:rPr>
              <a:t>The system verifies the user's PIN, presents a menu of banking services, validates transaction amounts and available balance, and updates the account balance accordingly. It also incorporates object-oriented programming, exception handling, and file handling to manage transaction records. By combining fundamental and advanced Java concepts, the simulator provides a practical understanding of ATM transaction processing and serves as a foundation for developing more comprehensive banking applications.</a:t>
            </a:r>
            <a:endParaRPr>
              <a:latin typeface="Arial Regular" panose="020B0604020202090204" charset="0"/>
              <a:cs typeface="Arial Regular" panose="020B0604020202090204" charset="0"/>
            </a:endParaRPr>
          </a:p>
        </p:txBody>
      </p:sp>
      <p:sp>
        <p:nvSpPr>
          <p:cNvPr id="8" name="Text Box 7"/>
          <p:cNvSpPr txBox="1"/>
          <p:nvPr/>
        </p:nvSpPr>
        <p:spPr>
          <a:xfrm>
            <a:off x="2974340" y="3962400"/>
            <a:ext cx="5080000" cy="2146300"/>
          </a:xfrm>
          <a:prstGeom prst="rect">
            <a:avLst/>
          </a:prstGeom>
        </p:spPr>
        <p:txBody>
          <a:bodyPr>
            <a:noAutofit/>
          </a:bodyPr>
          <a:p>
            <a:r>
              <a:rPr lang="en-US" altLang="en-US" sz="1600"/>
              <a:t>========== ATM MENU ==========</a:t>
            </a:r>
            <a:endParaRPr lang="en-US" altLang="en-US" sz="1600"/>
          </a:p>
          <a:p>
            <a:r>
              <a:rPr lang="en-US" altLang="en-US" sz="1600"/>
              <a:t>1. Check Balance</a:t>
            </a:r>
            <a:endParaRPr lang="en-US" altLang="en-US" sz="1600"/>
          </a:p>
          <a:p>
            <a:r>
              <a:rPr lang="en-US" altLang="en-US" sz="1600"/>
              <a:t>2. Deposit Money</a:t>
            </a:r>
            <a:endParaRPr lang="en-US" altLang="en-US" sz="1600"/>
          </a:p>
          <a:p>
            <a:r>
              <a:rPr lang="en-US" altLang="en-US" sz="1600"/>
              <a:t>3. Withdraw Money</a:t>
            </a:r>
            <a:endParaRPr lang="en-US" altLang="en-US" sz="1600"/>
          </a:p>
          <a:p>
            <a:r>
              <a:rPr lang="en-US" altLang="en-US" sz="1600"/>
              <a:t>4. Transaction History</a:t>
            </a:r>
            <a:endParaRPr lang="en-US" altLang="en-US" sz="1600"/>
          </a:p>
          <a:p>
            <a:r>
              <a:rPr lang="en-US" altLang="en-US" sz="1600"/>
              <a:t>5. Exit</a:t>
            </a:r>
            <a:endParaRPr lang="en-US" altLang="en-US" sz="16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40080" y="411480"/>
            <a:ext cx="7167245" cy="553085"/>
          </a:xfrm>
          <a:prstGeom prst="rect">
            <a:avLst/>
          </a:prstGeom>
          <a:noFill/>
        </p:spPr>
        <p:txBody>
          <a:bodyPr wrap="none">
            <a:spAutoFit/>
          </a:bodyPr>
          <a:lstStyle/>
          <a:p>
            <a:pPr>
              <a:defRPr sz="3000" b="1"/>
            </a:pPr>
            <a:r>
              <a:t>Understanding the Problem Statement</a:t>
            </a:r>
          </a:p>
        </p:txBody>
      </p:sp>
      <p:sp>
        <p:nvSpPr>
          <p:cNvPr id="3" name="TextBox 2"/>
          <p:cNvSpPr txBox="1"/>
          <p:nvPr/>
        </p:nvSpPr>
        <p:spPr>
          <a:xfrm>
            <a:off x="822960" y="1417320"/>
            <a:ext cx="10607040" cy="4480560"/>
          </a:xfrm>
          <a:prstGeom prst="rect">
            <a:avLst/>
          </a:prstGeom>
          <a:noFill/>
        </p:spPr>
        <p:txBody>
          <a:bodyPr wrap="square">
            <a:spAutoFit/>
          </a:bodyPr>
          <a:lstStyle/>
          <a:p>
            <a:pPr>
              <a:spcAft>
                <a:spcPts val="1600"/>
              </a:spcAft>
              <a:defRPr sz="2100"/>
            </a:pPr>
            <a:r>
              <a:t>Traditional ATM transactions involve several sequential steps, including user authentication, service selection, transaction validation, and account balance updates.</a:t>
            </a:r>
          </a:p>
          <a:p>
            <a:pPr>
              <a:spcAft>
                <a:spcPts val="1600"/>
              </a:spcAft>
              <a:defRPr sz="2100"/>
            </a:pPr>
            <a:r>
              <a:t>The problem is to represent these essential banking operations in a simple and organized software system that users can interact with.</a:t>
            </a:r>
          </a:p>
          <a:p>
            <a:pPr>
              <a:spcAft>
                <a:spcPts val="1600"/>
              </a:spcAft>
              <a:defRPr sz="2100"/>
            </a:pPr>
            <a:r>
              <a:t>The system must authenticate the user through a PIN, allow basic account operations, validate transaction conditions, and provide suitable responses for successful or invalid transactions.</a:t>
            </a:r>
          </a:p>
          <a:p>
            <a:pPr>
              <a:spcAft>
                <a:spcPts val="1600"/>
              </a:spcAft>
              <a:defRPr sz="2100"/>
            </a:pPr>
            <a:r>
              <a:t>The simulator therefore focuses on understanding the logical flow of ATM transactions while reducing manual calculation and representing account activities systematically.</a:t>
            </a:r>
          </a:p>
        </p:txBody>
      </p:sp>
      <p:sp>
        <p:nvSpPr>
          <p:cNvPr id="4" name="Text Box 3"/>
          <p:cNvSpPr txBox="1"/>
          <p:nvPr/>
        </p:nvSpPr>
        <p:spPr>
          <a:xfrm>
            <a:off x="276225" y="6582410"/>
            <a:ext cx="11729720" cy="275590"/>
          </a:xfrm>
          <a:prstGeom prst="rect">
            <a:avLst/>
          </a:prstGeom>
          <a:noFill/>
        </p:spPr>
        <p:txBody>
          <a:bodyPr wrap="square" rtlCol="0" anchor="t">
            <a:spAutoFit/>
          </a:bodyPr>
          <a:p>
            <a:pPr algn="l">
              <a:defRPr sz="800">
                <a:solidFill>
                  <a:srgbClr val="6E7882"/>
                </a:solidFill>
              </a:defRPr>
            </a:pPr>
            <a:r>
              <a:rPr sz="1200">
                <a:sym typeface="+mn-ea"/>
              </a:rPr>
              <a:t>ATM Transaction Simulator  •  Java Project                                      </a:t>
            </a:r>
            <a:r>
              <a:rPr lang="en-US" sz="1200">
                <a:sym typeface="+mn-ea"/>
              </a:rPr>
              <a:t>	                          4                                </a:t>
            </a:r>
            <a:r>
              <a:rPr lang="en-US" altLang="en-US" sz="1200">
                <a:solidFill>
                  <a:schemeClr val="tx2">
                    <a:lumMod val="40000"/>
                    <a:lumOff val="60000"/>
                  </a:schemeClr>
                </a:solidFill>
                <a:sym typeface="+mn-ea"/>
              </a:rPr>
              <a:t>https://github.com/Keerthan858/KL-FED-2026-Java-Section-3</a:t>
            </a:r>
            <a:endParaRPr lang="en-US" altLang="en-US" sz="1200">
              <a:solidFill>
                <a:schemeClr val="tx2">
                  <a:lumMod val="40000"/>
                  <a:lumOff val="60000"/>
                </a:schemeClr>
              </a:solidFill>
              <a:sym typeface="+mn-e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94360" y="347472"/>
            <a:ext cx="10972800" cy="594360"/>
          </a:xfrm>
          <a:prstGeom prst="rect">
            <a:avLst/>
          </a:prstGeom>
          <a:noFill/>
        </p:spPr>
        <p:txBody>
          <a:bodyPr wrap="none">
            <a:spAutoFit/>
          </a:bodyPr>
          <a:lstStyle/>
          <a:p>
            <a:pPr>
              <a:defRPr sz="2700" b="1">
                <a:solidFill>
                  <a:srgbClr val="192D46"/>
                </a:solidFill>
                <a:latin typeface="Aptos Display"/>
              </a:defRPr>
            </a:pPr>
            <a:r>
              <a:t>CO1 – Java Foundations Used</a:t>
            </a:r>
          </a:p>
        </p:txBody>
      </p:sp>
      <p:sp>
        <p:nvSpPr>
          <p:cNvPr id="3" name="Rectangle 2"/>
          <p:cNvSpPr/>
          <p:nvPr/>
        </p:nvSpPr>
        <p:spPr>
          <a:xfrm>
            <a:off x="594360" y="1078992"/>
            <a:ext cx="10972800" cy="32004"/>
          </a:xfrm>
          <a:prstGeom prst="rect">
            <a:avLst/>
          </a:prstGeom>
          <a:solidFill>
            <a:srgbClr val="4678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94360" y="1417320"/>
            <a:ext cx="4983480" cy="4709160"/>
          </a:xfrm>
          <a:prstGeom prst="roundRect">
            <a:avLst/>
          </a:prstGeom>
          <a:solidFill>
            <a:srgbClr val="FFFFFF"/>
          </a:solidFill>
          <a:ln>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806440" y="1417320"/>
            <a:ext cx="5760720" cy="4709160"/>
          </a:xfrm>
          <a:prstGeom prst="roundRect">
            <a:avLst/>
          </a:prstGeom>
          <a:solidFill>
            <a:srgbClr val="1E2228"/>
          </a:solidFill>
          <a:ln>
            <a:solidFill>
              <a:srgbClr val="1E22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1691640"/>
            <a:ext cx="4846320" cy="365760"/>
          </a:xfrm>
          <a:prstGeom prst="rect">
            <a:avLst/>
          </a:prstGeom>
          <a:noFill/>
        </p:spPr>
        <p:txBody>
          <a:bodyPr wrap="none">
            <a:spAutoFit/>
          </a:bodyPr>
          <a:lstStyle/>
          <a:p>
            <a:pPr>
              <a:defRPr sz="1900" b="1">
                <a:solidFill>
                  <a:srgbClr val="192D46"/>
                </a:solidFill>
                <a:latin typeface="Aptos Display"/>
              </a:defRPr>
            </a:pPr>
            <a:r>
              <a:t>Concepts Used</a:t>
            </a:r>
          </a:p>
        </p:txBody>
      </p:sp>
      <p:sp>
        <p:nvSpPr>
          <p:cNvPr id="7" name="TextBox 6"/>
          <p:cNvSpPr txBox="1"/>
          <p:nvPr/>
        </p:nvSpPr>
        <p:spPr>
          <a:xfrm>
            <a:off x="6144768" y="1577340"/>
            <a:ext cx="4846320" cy="365760"/>
          </a:xfrm>
          <a:prstGeom prst="rect">
            <a:avLst/>
          </a:prstGeom>
          <a:noFill/>
        </p:spPr>
        <p:txBody>
          <a:bodyPr wrap="none">
            <a:spAutoFit/>
          </a:bodyPr>
          <a:lstStyle/>
          <a:p>
            <a:pPr>
              <a:defRPr sz="1900" b="1">
                <a:solidFill>
                  <a:srgbClr val="EBF0F5"/>
                </a:solidFill>
                <a:latin typeface="Aptos Display"/>
              </a:defRPr>
            </a:pPr>
            <a:r>
              <a:t>Code Reference</a:t>
            </a:r>
          </a:p>
        </p:txBody>
      </p:sp>
      <p:sp>
        <p:nvSpPr>
          <p:cNvPr id="8" name="TextBox 7"/>
          <p:cNvSpPr txBox="1"/>
          <p:nvPr/>
        </p:nvSpPr>
        <p:spPr>
          <a:xfrm>
            <a:off x="896112" y="2148840"/>
            <a:ext cx="4389120" cy="2938145"/>
          </a:xfrm>
          <a:prstGeom prst="rect">
            <a:avLst/>
          </a:prstGeom>
          <a:noFill/>
        </p:spPr>
        <p:txBody>
          <a:bodyPr wrap="square">
            <a:spAutoFit/>
          </a:bodyPr>
          <a:lstStyle/>
          <a:p>
            <a:pPr>
              <a:spcAft>
                <a:spcPts val="1300"/>
              </a:spcAft>
              <a:defRPr sz="1420">
                <a:solidFill>
                  <a:srgbClr val="37414B"/>
                </a:solidFill>
                <a:latin typeface="Aptos"/>
              </a:defRPr>
            </a:pPr>
            <a:r>
              <a:rPr b="1"/>
              <a:t>Scanner Class</a:t>
            </a:r>
            <a:r>
              <a:t> – Reads user input for PIN, menu choice, and amounts.</a:t>
            </a:r>
          </a:p>
          <a:p>
            <a:pPr>
              <a:spcAft>
                <a:spcPts val="1300"/>
              </a:spcAft>
              <a:defRPr sz="1420">
                <a:solidFill>
                  <a:srgbClr val="37414B"/>
                </a:solidFill>
                <a:latin typeface="Aptos"/>
              </a:defRPr>
            </a:pPr>
            <a:r>
              <a:rPr b="1"/>
              <a:t>Variables &amp; Constants</a:t>
            </a:r>
            <a:r>
              <a:t> – Uses balance, choice, enteredPin, and final PIN.</a:t>
            </a:r>
          </a:p>
          <a:p>
            <a:pPr>
              <a:spcAft>
                <a:spcPts val="1300"/>
              </a:spcAft>
              <a:defRPr sz="1420">
                <a:solidFill>
                  <a:srgbClr val="37414B"/>
                </a:solidFill>
                <a:latin typeface="Aptos"/>
              </a:defRPr>
            </a:pPr>
            <a:r>
              <a:rPr b="1"/>
              <a:t>Primitive Data Types</a:t>
            </a:r>
            <a:r>
              <a:t> – Uses int, double, and boolean.</a:t>
            </a:r>
          </a:p>
          <a:p>
            <a:pPr>
              <a:spcAft>
                <a:spcPts val="1300"/>
              </a:spcAft>
              <a:defRPr sz="1420">
                <a:solidFill>
                  <a:srgbClr val="37414B"/>
                </a:solidFill>
                <a:latin typeface="Aptos"/>
              </a:defRPr>
            </a:pPr>
            <a:r>
              <a:rPr b="1"/>
              <a:t>Operators</a:t>
            </a:r>
            <a:r>
              <a:t> – Uses assignment, arithmetic, and comparison operators.</a:t>
            </a:r>
          </a:p>
          <a:p>
            <a:pPr>
              <a:spcAft>
                <a:spcPts val="1300"/>
              </a:spcAft>
              <a:defRPr sz="1420">
                <a:solidFill>
                  <a:srgbClr val="37414B"/>
                </a:solidFill>
                <a:latin typeface="Aptos"/>
              </a:defRPr>
            </a:pPr>
            <a:r>
              <a:rPr b="1"/>
              <a:t>Console Input/Output</a:t>
            </a:r>
            <a:r>
              <a:t> – Uses print(), println(), and printf().</a:t>
            </a:r>
          </a:p>
        </p:txBody>
      </p:sp>
      <p:sp>
        <p:nvSpPr>
          <p:cNvPr id="9" name="Rounded Rectangle 8"/>
          <p:cNvSpPr/>
          <p:nvPr/>
        </p:nvSpPr>
        <p:spPr>
          <a:xfrm>
            <a:off x="6007862" y="2057273"/>
            <a:ext cx="5166360" cy="3520440"/>
          </a:xfrm>
          <a:prstGeom prst="roundRect">
            <a:avLst/>
          </a:prstGeom>
          <a:solidFill>
            <a:srgbClr val="14171C"/>
          </a:solidFill>
          <a:ln>
            <a:solidFill>
              <a:srgbClr val="41464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309360" y="2304288"/>
            <a:ext cx="100584" cy="100584"/>
          </a:xfrm>
          <a:prstGeom prst="ellipse">
            <a:avLst/>
          </a:prstGeom>
          <a:solidFill>
            <a:schemeClr val="accent2">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10528" y="2304288"/>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711696" y="2304288"/>
            <a:ext cx="100584" cy="100584"/>
          </a:xfrm>
          <a:prstGeom prst="ellipse">
            <a:avLst/>
          </a:prstGeom>
          <a:solidFill>
            <a:srgbClr val="00B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2578608"/>
            <a:ext cx="4709160" cy="2788920"/>
          </a:xfrm>
          <a:prstGeom prst="rect">
            <a:avLst/>
          </a:prstGeom>
          <a:noFill/>
        </p:spPr>
        <p:txBody>
          <a:bodyPr wrap="none">
            <a:spAutoFit/>
          </a:bodyPr>
          <a:lstStyle/>
          <a:p>
            <a:pPr>
              <a:spcAft>
                <a:spcPts val="0"/>
              </a:spcAft>
              <a:defRPr sz="1250">
                <a:solidFill>
                  <a:srgbClr val="EBEEF2"/>
                </a:solidFill>
                <a:latin typeface="Menlo" panose="020B0609030804020204"/>
              </a:defRPr>
            </a:pPr>
            <a:r>
              <a:t>Scanner sc = new Scanner(System.in);</a:t>
            </a:r>
            <a:br/>
            <a:r>
              <a:t>double balance = 10000.00;</a:t>
            </a:r>
            <a:br/>
            <a:br/>
            <a:r>
              <a:t>System.out.print("Enter PIN: ");</a:t>
            </a:r>
            <a:br/>
            <a:r>
              <a:t>int enteredPin = sc.nextInt();</a:t>
            </a:r>
            <a:br/>
            <a:br/>
            <a:r>
              <a:t>System.out.println("PIN verified successfully!");</a:t>
            </a:r>
          </a:p>
        </p:txBody>
      </p:sp>
      <p:sp>
        <p:nvSpPr>
          <p:cNvPr id="14" name="TextBox 13"/>
          <p:cNvSpPr txBox="1"/>
          <p:nvPr/>
        </p:nvSpPr>
        <p:spPr>
          <a:xfrm>
            <a:off x="6144768" y="5715000"/>
            <a:ext cx="5029200" cy="274320"/>
          </a:xfrm>
          <a:prstGeom prst="rect">
            <a:avLst/>
          </a:prstGeom>
          <a:noFill/>
        </p:spPr>
        <p:txBody>
          <a:bodyPr wrap="none">
            <a:spAutoFit/>
          </a:bodyPr>
          <a:lstStyle/>
          <a:p>
            <a:pPr>
              <a:defRPr sz="950" i="1">
                <a:solidFill>
                  <a:srgbClr val="B9C0C8"/>
                </a:solidFill>
                <a:latin typeface="Aptos"/>
              </a:defRPr>
            </a:pPr>
            <a:r>
              <a:t>Selected directly from the ATM Transaction Simulator</a:t>
            </a:r>
          </a:p>
        </p:txBody>
      </p:sp>
      <p:sp>
        <p:nvSpPr>
          <p:cNvPr id="16" name="TextBox 13"/>
          <p:cNvSpPr txBox="1"/>
          <p:nvPr/>
        </p:nvSpPr>
        <p:spPr>
          <a:xfrm>
            <a:off x="519430" y="6336665"/>
            <a:ext cx="11047730" cy="306705"/>
          </a:xfrm>
          <a:prstGeom prst="rect">
            <a:avLst/>
          </a:prstGeom>
          <a:noFill/>
        </p:spPr>
        <p:txBody>
          <a:bodyPr wrap="square">
            <a:spAutoFit/>
          </a:bodyPr>
          <a:lstStyle/>
          <a:p>
            <a:pPr algn="l">
              <a:defRPr sz="950" i="1">
                <a:solidFill>
                  <a:srgbClr val="B9C0C8"/>
                </a:solidFill>
                <a:latin typeface="Aptos"/>
              </a:defRPr>
            </a:pPr>
            <a:r>
              <a:rPr lang="en-US" altLang="en-US" sz="1400" b="1">
                <a:solidFill>
                  <a:schemeClr val="bg1">
                    <a:lumMod val="50000"/>
                  </a:schemeClr>
                </a:solidFill>
              </a:rPr>
              <a:t>Outcome: Accepts user input and manages ATM data using variables,  data types, operators, and console input/output.</a:t>
            </a:r>
            <a:endParaRPr lang="en-US" altLang="en-US" sz="1400" b="1">
              <a:solidFill>
                <a:schemeClr val="bg1">
                  <a:lumMod val="50000"/>
                </a:schemeClr>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94360" y="347472"/>
            <a:ext cx="10972800" cy="594360"/>
          </a:xfrm>
          <a:prstGeom prst="rect">
            <a:avLst/>
          </a:prstGeom>
          <a:noFill/>
        </p:spPr>
        <p:txBody>
          <a:bodyPr wrap="none">
            <a:spAutoFit/>
          </a:bodyPr>
          <a:lstStyle/>
          <a:p>
            <a:pPr>
              <a:defRPr sz="2700" b="1">
                <a:solidFill>
                  <a:srgbClr val="192D46"/>
                </a:solidFill>
                <a:latin typeface="Aptos Display"/>
              </a:defRPr>
            </a:pPr>
            <a:r>
              <a:t>CO2 – Control Flow Concepts Used</a:t>
            </a:r>
          </a:p>
        </p:txBody>
      </p:sp>
      <p:sp>
        <p:nvSpPr>
          <p:cNvPr id="3" name="Rectangle 2"/>
          <p:cNvSpPr/>
          <p:nvPr/>
        </p:nvSpPr>
        <p:spPr>
          <a:xfrm>
            <a:off x="594360" y="1078992"/>
            <a:ext cx="10972800" cy="32004"/>
          </a:xfrm>
          <a:prstGeom prst="rect">
            <a:avLst/>
          </a:prstGeom>
          <a:solidFill>
            <a:srgbClr val="4678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94360" y="1417320"/>
            <a:ext cx="4983480" cy="4709160"/>
          </a:xfrm>
          <a:prstGeom prst="roundRect">
            <a:avLst/>
          </a:prstGeom>
          <a:solidFill>
            <a:srgbClr val="FFFFFF"/>
          </a:solidFill>
          <a:ln>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806440" y="1417320"/>
            <a:ext cx="5953760" cy="4709160"/>
          </a:xfrm>
          <a:prstGeom prst="roundRect">
            <a:avLst/>
          </a:prstGeom>
          <a:solidFill>
            <a:srgbClr val="1E2228"/>
          </a:solidFill>
          <a:ln>
            <a:solidFill>
              <a:srgbClr val="1E22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1691640"/>
            <a:ext cx="4846320" cy="365760"/>
          </a:xfrm>
          <a:prstGeom prst="rect">
            <a:avLst/>
          </a:prstGeom>
          <a:noFill/>
        </p:spPr>
        <p:txBody>
          <a:bodyPr wrap="none">
            <a:spAutoFit/>
          </a:bodyPr>
          <a:lstStyle/>
          <a:p>
            <a:pPr>
              <a:defRPr sz="1900" b="1">
                <a:solidFill>
                  <a:srgbClr val="192D46"/>
                </a:solidFill>
                <a:latin typeface="Aptos Display"/>
              </a:defRPr>
            </a:pPr>
            <a:r>
              <a:t>Concepts Used</a:t>
            </a:r>
          </a:p>
        </p:txBody>
      </p:sp>
      <p:sp>
        <p:nvSpPr>
          <p:cNvPr id="7" name="TextBox 6"/>
          <p:cNvSpPr txBox="1"/>
          <p:nvPr/>
        </p:nvSpPr>
        <p:spPr>
          <a:xfrm>
            <a:off x="6144768" y="1554480"/>
            <a:ext cx="4846320" cy="365760"/>
          </a:xfrm>
          <a:prstGeom prst="rect">
            <a:avLst/>
          </a:prstGeom>
          <a:noFill/>
        </p:spPr>
        <p:txBody>
          <a:bodyPr wrap="none">
            <a:spAutoFit/>
          </a:bodyPr>
          <a:lstStyle/>
          <a:p>
            <a:pPr>
              <a:defRPr sz="1900" b="1">
                <a:solidFill>
                  <a:srgbClr val="EBF0F5"/>
                </a:solidFill>
                <a:latin typeface="Aptos Display"/>
              </a:defRPr>
            </a:pPr>
            <a:r>
              <a:t>Code Reference</a:t>
            </a:r>
          </a:p>
        </p:txBody>
      </p:sp>
      <p:sp>
        <p:nvSpPr>
          <p:cNvPr id="8" name="TextBox 7"/>
          <p:cNvSpPr txBox="1"/>
          <p:nvPr/>
        </p:nvSpPr>
        <p:spPr>
          <a:xfrm>
            <a:off x="896112" y="2148840"/>
            <a:ext cx="4389120" cy="2501900"/>
          </a:xfrm>
          <a:prstGeom prst="rect">
            <a:avLst/>
          </a:prstGeom>
          <a:noFill/>
        </p:spPr>
        <p:txBody>
          <a:bodyPr wrap="square">
            <a:spAutoFit/>
          </a:bodyPr>
          <a:lstStyle/>
          <a:p>
            <a:pPr>
              <a:spcAft>
                <a:spcPts val="1300"/>
              </a:spcAft>
              <a:defRPr sz="1420">
                <a:solidFill>
                  <a:srgbClr val="37414B"/>
                </a:solidFill>
                <a:latin typeface="Aptos"/>
              </a:defRPr>
            </a:pPr>
            <a:r>
              <a:rPr b="1"/>
              <a:t>if / if-else</a:t>
            </a:r>
            <a:r>
              <a:t> – Checks PIN and validates transaction amounts.</a:t>
            </a:r>
          </a:p>
          <a:p>
            <a:pPr>
              <a:spcAft>
                <a:spcPts val="1300"/>
              </a:spcAft>
              <a:defRPr sz="1420">
                <a:solidFill>
                  <a:srgbClr val="37414B"/>
                </a:solidFill>
                <a:latin typeface="Aptos"/>
              </a:defRPr>
            </a:pPr>
            <a:r>
              <a:rPr b="1"/>
              <a:t>else-if</a:t>
            </a:r>
            <a:r>
              <a:t> – Checks for insufficient balance.</a:t>
            </a:r>
          </a:p>
          <a:p>
            <a:pPr>
              <a:spcAft>
                <a:spcPts val="1300"/>
              </a:spcAft>
              <a:defRPr sz="1420">
                <a:solidFill>
                  <a:srgbClr val="37414B"/>
                </a:solidFill>
                <a:latin typeface="Aptos"/>
              </a:defRPr>
            </a:pPr>
            <a:r>
              <a:rPr b="1"/>
              <a:t>switch-case</a:t>
            </a:r>
            <a:r>
              <a:t> – Handles ATM menu selections.</a:t>
            </a:r>
          </a:p>
          <a:p>
            <a:pPr>
              <a:spcAft>
                <a:spcPts val="1300"/>
              </a:spcAft>
              <a:defRPr sz="1420">
                <a:solidFill>
                  <a:srgbClr val="37414B"/>
                </a:solidFill>
                <a:latin typeface="Aptos"/>
              </a:defRPr>
            </a:pPr>
            <a:r>
              <a:rPr b="1"/>
              <a:t>while Loop</a:t>
            </a:r>
            <a:r>
              <a:t> – Repeats the menu until Exit is selected.</a:t>
            </a:r>
          </a:p>
          <a:p>
            <a:pPr>
              <a:spcAft>
                <a:spcPts val="1300"/>
              </a:spcAft>
              <a:defRPr sz="1420">
                <a:solidFill>
                  <a:srgbClr val="37414B"/>
                </a:solidFill>
                <a:latin typeface="Aptos"/>
              </a:defRPr>
            </a:pPr>
            <a:r>
              <a:rPr b="1"/>
              <a:t>break / return</a:t>
            </a:r>
            <a:r>
              <a:t> – Controls execution and program flow.</a:t>
            </a:r>
          </a:p>
        </p:txBody>
      </p:sp>
      <p:sp>
        <p:nvSpPr>
          <p:cNvPr id="9" name="Rounded Rectangle 8"/>
          <p:cNvSpPr/>
          <p:nvPr/>
        </p:nvSpPr>
        <p:spPr>
          <a:xfrm>
            <a:off x="6007735" y="2057400"/>
            <a:ext cx="5521325" cy="3520440"/>
          </a:xfrm>
          <a:prstGeom prst="roundRect">
            <a:avLst/>
          </a:prstGeom>
          <a:solidFill>
            <a:srgbClr val="14171C"/>
          </a:solidFill>
          <a:ln>
            <a:solidFill>
              <a:srgbClr val="41464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309360" y="2304288"/>
            <a:ext cx="100584" cy="100584"/>
          </a:xfrm>
          <a:prstGeom prst="ellipse">
            <a:avLst/>
          </a:prstGeom>
          <a:solidFill>
            <a:schemeClr val="accent2">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10528" y="2304288"/>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711696" y="2304288"/>
            <a:ext cx="100584" cy="100584"/>
          </a:xfrm>
          <a:prstGeom prst="ellipse">
            <a:avLst/>
          </a:prstGeom>
          <a:solidFill>
            <a:srgbClr val="00B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2578608"/>
            <a:ext cx="4709160" cy="2788920"/>
          </a:xfrm>
          <a:prstGeom prst="rect">
            <a:avLst/>
          </a:prstGeom>
          <a:noFill/>
        </p:spPr>
        <p:txBody>
          <a:bodyPr wrap="none">
            <a:spAutoFit/>
          </a:bodyPr>
          <a:lstStyle/>
          <a:p>
            <a:pPr>
              <a:spcAft>
                <a:spcPts val="0"/>
              </a:spcAft>
              <a:defRPr sz="1250">
                <a:solidFill>
                  <a:srgbClr val="EBEEF2"/>
                </a:solidFill>
                <a:latin typeface="Menlo" panose="020B0609030804020204"/>
              </a:defRPr>
            </a:pPr>
            <a:r>
              <a:t>if (amount &lt;= 0) {</a:t>
            </a:r>
            <a:br/>
            <a:r>
              <a:t>    System.out.println("Invalid withdrawal amount.");</a:t>
            </a:r>
            <a:br/>
            <a:r>
              <a:t>} else if (amount &gt; balance) {</a:t>
            </a:r>
            <a:br/>
            <a:r>
              <a:t>    System.out.println("Insufficient balance.");</a:t>
            </a:r>
            <a:br/>
            <a:r>
              <a:t>}</a:t>
            </a:r>
            <a:br/>
            <a:br/>
            <a:r>
              <a:t>while (choice != 4) {</a:t>
            </a:r>
            <a:br/>
            <a:r>
              <a:t>    switch (choice) {</a:t>
            </a:r>
            <a:br/>
            <a:r>
              <a:t>        case 1:</a:t>
            </a:r>
            <a:br/>
            <a:r>
              <a:t>            checkBalance(balance);</a:t>
            </a:r>
            <a:br/>
            <a:r>
              <a:t>            break;</a:t>
            </a:r>
            <a:br/>
            <a:r>
              <a:t>    }</a:t>
            </a:r>
            <a:br/>
            <a:r>
              <a:t>}</a:t>
            </a:r>
          </a:p>
        </p:txBody>
      </p:sp>
      <p:sp>
        <p:nvSpPr>
          <p:cNvPr id="14" name="TextBox 13"/>
          <p:cNvSpPr txBox="1"/>
          <p:nvPr/>
        </p:nvSpPr>
        <p:spPr>
          <a:xfrm>
            <a:off x="6144768" y="5715000"/>
            <a:ext cx="5029200" cy="274320"/>
          </a:xfrm>
          <a:prstGeom prst="rect">
            <a:avLst/>
          </a:prstGeom>
          <a:noFill/>
        </p:spPr>
        <p:txBody>
          <a:bodyPr wrap="none">
            <a:spAutoFit/>
          </a:bodyPr>
          <a:lstStyle/>
          <a:p>
            <a:pPr>
              <a:defRPr sz="950" i="1">
                <a:solidFill>
                  <a:srgbClr val="B9C0C8"/>
                </a:solidFill>
                <a:latin typeface="Aptos"/>
              </a:defRPr>
            </a:pPr>
            <a:r>
              <a:t>Selected directly from the ATM Transaction Simulator</a:t>
            </a:r>
          </a:p>
        </p:txBody>
      </p:sp>
      <p:sp>
        <p:nvSpPr>
          <p:cNvPr id="16" name="TextBox 13"/>
          <p:cNvSpPr txBox="1"/>
          <p:nvPr/>
        </p:nvSpPr>
        <p:spPr>
          <a:xfrm>
            <a:off x="710438" y="6217285"/>
            <a:ext cx="10280650" cy="521970"/>
          </a:xfrm>
          <a:prstGeom prst="rect">
            <a:avLst/>
          </a:prstGeom>
          <a:noFill/>
        </p:spPr>
        <p:txBody>
          <a:bodyPr wrap="none">
            <a:spAutoFit/>
          </a:bodyPr>
          <a:lstStyle/>
          <a:p>
            <a:pPr algn="l">
              <a:defRPr sz="950" i="1">
                <a:solidFill>
                  <a:srgbClr val="B9C0C8"/>
                </a:solidFill>
                <a:latin typeface="Aptos"/>
              </a:defRPr>
            </a:pPr>
            <a:r>
              <a:rPr lang="en-US" altLang="en-US" sz="1400" b="1">
                <a:solidFill>
                  <a:schemeClr val="bg1">
                    <a:lumMod val="50000"/>
                  </a:schemeClr>
                </a:solidFill>
              </a:rPr>
              <a:t>Outcome: Controls ATM operations using conditional statements, switch-case, and loops while validating transactions </a:t>
            </a:r>
            <a:endParaRPr lang="en-US" altLang="en-US" sz="1400" b="1">
              <a:solidFill>
                <a:schemeClr val="bg1">
                  <a:lumMod val="50000"/>
                </a:schemeClr>
              </a:solidFill>
            </a:endParaRPr>
          </a:p>
          <a:p>
            <a:pPr algn="l">
              <a:defRPr sz="950" i="1">
                <a:solidFill>
                  <a:srgbClr val="B9C0C8"/>
                </a:solidFill>
                <a:latin typeface="Aptos"/>
              </a:defRPr>
            </a:pPr>
            <a:r>
              <a:rPr lang="en-US" altLang="en-US" sz="1400" b="1">
                <a:solidFill>
                  <a:schemeClr val="bg1">
                    <a:lumMod val="50000"/>
                  </a:schemeClr>
                </a:solidFill>
              </a:rPr>
              <a:t>                 and handling menu selections.</a:t>
            </a:r>
            <a:endParaRPr lang="en-US" altLang="en-US" sz="1400" b="1">
              <a:solidFill>
                <a:schemeClr val="bg1">
                  <a:lumMod val="50000"/>
                </a:schemeClr>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94360" y="347472"/>
            <a:ext cx="10972800" cy="594360"/>
          </a:xfrm>
          <a:prstGeom prst="rect">
            <a:avLst/>
          </a:prstGeom>
          <a:noFill/>
        </p:spPr>
        <p:txBody>
          <a:bodyPr wrap="none">
            <a:spAutoFit/>
          </a:bodyPr>
          <a:lstStyle/>
          <a:p>
            <a:pPr>
              <a:defRPr sz="2700" b="1">
                <a:solidFill>
                  <a:srgbClr val="192D46"/>
                </a:solidFill>
                <a:latin typeface="Aptos Display"/>
              </a:defRPr>
            </a:pPr>
            <a:r>
              <a:t>CO3 – Methods &amp; Modular Programming Used</a:t>
            </a:r>
          </a:p>
        </p:txBody>
      </p:sp>
      <p:sp>
        <p:nvSpPr>
          <p:cNvPr id="3" name="Rectangle 2"/>
          <p:cNvSpPr/>
          <p:nvPr/>
        </p:nvSpPr>
        <p:spPr>
          <a:xfrm>
            <a:off x="594360" y="1078992"/>
            <a:ext cx="10972800" cy="32004"/>
          </a:xfrm>
          <a:prstGeom prst="rect">
            <a:avLst/>
          </a:prstGeom>
          <a:solidFill>
            <a:srgbClr val="4678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94360" y="1417320"/>
            <a:ext cx="4983480" cy="4709160"/>
          </a:xfrm>
          <a:prstGeom prst="roundRect">
            <a:avLst/>
          </a:prstGeom>
          <a:solidFill>
            <a:srgbClr val="FFFFFF"/>
          </a:solidFill>
          <a:ln>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806440" y="1417320"/>
            <a:ext cx="5760720" cy="4709160"/>
          </a:xfrm>
          <a:prstGeom prst="roundRect">
            <a:avLst/>
          </a:prstGeom>
          <a:solidFill>
            <a:srgbClr val="1E2228"/>
          </a:solidFill>
          <a:ln>
            <a:solidFill>
              <a:srgbClr val="1E22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1691640"/>
            <a:ext cx="4846320" cy="365760"/>
          </a:xfrm>
          <a:prstGeom prst="rect">
            <a:avLst/>
          </a:prstGeom>
          <a:noFill/>
        </p:spPr>
        <p:txBody>
          <a:bodyPr wrap="none">
            <a:spAutoFit/>
          </a:bodyPr>
          <a:lstStyle/>
          <a:p>
            <a:pPr>
              <a:defRPr sz="1900" b="1">
                <a:solidFill>
                  <a:srgbClr val="192D46"/>
                </a:solidFill>
                <a:latin typeface="Aptos Display"/>
              </a:defRPr>
            </a:pPr>
            <a:r>
              <a:t>Concepts Used</a:t>
            </a:r>
          </a:p>
        </p:txBody>
      </p:sp>
      <p:sp>
        <p:nvSpPr>
          <p:cNvPr id="7" name="TextBox 6"/>
          <p:cNvSpPr txBox="1"/>
          <p:nvPr/>
        </p:nvSpPr>
        <p:spPr>
          <a:xfrm>
            <a:off x="6144768" y="1637030"/>
            <a:ext cx="4846320" cy="365760"/>
          </a:xfrm>
          <a:prstGeom prst="rect">
            <a:avLst/>
          </a:prstGeom>
          <a:noFill/>
        </p:spPr>
        <p:txBody>
          <a:bodyPr wrap="none">
            <a:spAutoFit/>
          </a:bodyPr>
          <a:lstStyle/>
          <a:p>
            <a:pPr>
              <a:defRPr sz="1900" b="1">
                <a:solidFill>
                  <a:srgbClr val="EBF0F5"/>
                </a:solidFill>
                <a:latin typeface="Aptos Display"/>
              </a:defRPr>
            </a:pPr>
            <a:r>
              <a:t>Code Reference</a:t>
            </a:r>
          </a:p>
        </p:txBody>
      </p:sp>
      <p:sp>
        <p:nvSpPr>
          <p:cNvPr id="8" name="TextBox 7"/>
          <p:cNvSpPr txBox="1"/>
          <p:nvPr/>
        </p:nvSpPr>
        <p:spPr>
          <a:xfrm>
            <a:off x="896112" y="2148840"/>
            <a:ext cx="4389120" cy="2938145"/>
          </a:xfrm>
          <a:prstGeom prst="rect">
            <a:avLst/>
          </a:prstGeom>
          <a:noFill/>
        </p:spPr>
        <p:txBody>
          <a:bodyPr wrap="square">
            <a:spAutoFit/>
          </a:bodyPr>
          <a:lstStyle/>
          <a:p>
            <a:pPr>
              <a:spcAft>
                <a:spcPts val="1300"/>
              </a:spcAft>
              <a:defRPr sz="1420">
                <a:solidFill>
                  <a:srgbClr val="37414B"/>
                </a:solidFill>
                <a:latin typeface="Aptos"/>
              </a:defRPr>
            </a:pPr>
            <a:r>
              <a:rPr b="1"/>
              <a:t>Methods</a:t>
            </a:r>
            <a:r>
              <a:t> – Uses separate methods for ATM operations.</a:t>
            </a:r>
          </a:p>
          <a:p>
            <a:pPr>
              <a:spcAft>
                <a:spcPts val="1300"/>
              </a:spcAft>
              <a:defRPr sz="1420">
                <a:solidFill>
                  <a:srgbClr val="37414B"/>
                </a:solidFill>
                <a:latin typeface="Aptos"/>
              </a:defRPr>
            </a:pPr>
            <a:r>
              <a:rPr b="1"/>
              <a:t>Method Parameters</a:t>
            </a:r>
            <a:r>
              <a:t> – Passes balance, amount, and PIN values.</a:t>
            </a:r>
          </a:p>
          <a:p>
            <a:pPr>
              <a:spcAft>
                <a:spcPts val="1300"/>
              </a:spcAft>
              <a:defRPr sz="1420">
                <a:solidFill>
                  <a:srgbClr val="37414B"/>
                </a:solidFill>
                <a:latin typeface="Aptos"/>
              </a:defRPr>
            </a:pPr>
            <a:r>
              <a:rPr b="1"/>
              <a:t>Return Values</a:t>
            </a:r>
            <a:r>
              <a:t> – Returns boolean and double values.</a:t>
            </a:r>
          </a:p>
          <a:p>
            <a:pPr>
              <a:spcAft>
                <a:spcPts val="1300"/>
              </a:spcAft>
              <a:defRPr sz="1420">
                <a:solidFill>
                  <a:srgbClr val="37414B"/>
                </a:solidFill>
                <a:latin typeface="Aptos"/>
              </a:defRPr>
            </a:pPr>
            <a:r>
              <a:rPr b="1"/>
              <a:t>Static Methods</a:t>
            </a:r>
            <a:r>
              <a:t> – User-defined methods are declared static.</a:t>
            </a:r>
          </a:p>
          <a:p>
            <a:pPr>
              <a:spcAft>
                <a:spcPts val="1300"/>
              </a:spcAft>
              <a:defRPr sz="1420">
                <a:solidFill>
                  <a:srgbClr val="37414B"/>
                </a:solidFill>
                <a:latin typeface="Aptos"/>
              </a:defRPr>
            </a:pPr>
            <a:r>
              <a:rPr b="1"/>
              <a:t>Modular Programming</a:t>
            </a:r>
            <a:r>
              <a:t> – Each ATM operation is handled separately.</a:t>
            </a:r>
          </a:p>
        </p:txBody>
      </p:sp>
      <p:sp>
        <p:nvSpPr>
          <p:cNvPr id="9" name="Rounded Rectangle 8"/>
          <p:cNvSpPr/>
          <p:nvPr/>
        </p:nvSpPr>
        <p:spPr>
          <a:xfrm>
            <a:off x="6007862" y="2098548"/>
            <a:ext cx="5166360" cy="3520440"/>
          </a:xfrm>
          <a:prstGeom prst="roundRect">
            <a:avLst/>
          </a:prstGeom>
          <a:solidFill>
            <a:srgbClr val="14171C"/>
          </a:solidFill>
          <a:ln>
            <a:solidFill>
              <a:srgbClr val="41464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309360" y="2304288"/>
            <a:ext cx="100584" cy="100584"/>
          </a:xfrm>
          <a:prstGeom prst="ellipse">
            <a:avLst/>
          </a:prstGeom>
          <a:solidFill>
            <a:schemeClr val="accent2">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10528" y="2304288"/>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711696" y="2304288"/>
            <a:ext cx="100584" cy="100584"/>
          </a:xfrm>
          <a:prstGeom prst="ellipse">
            <a:avLst/>
          </a:prstGeom>
          <a:solidFill>
            <a:srgbClr val="00B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2578608"/>
            <a:ext cx="4709160" cy="2788920"/>
          </a:xfrm>
          <a:prstGeom prst="rect">
            <a:avLst/>
          </a:prstGeom>
          <a:noFill/>
        </p:spPr>
        <p:txBody>
          <a:bodyPr wrap="none">
            <a:spAutoFit/>
          </a:bodyPr>
          <a:lstStyle/>
          <a:p>
            <a:pPr>
              <a:spcAft>
                <a:spcPts val="0"/>
              </a:spcAft>
              <a:defRPr sz="1250">
                <a:solidFill>
                  <a:srgbClr val="EBEEF2"/>
                </a:solidFill>
                <a:latin typeface="Menlo" panose="020B0609030804020204"/>
              </a:defRPr>
            </a:pPr>
            <a:r>
              <a:t>public static double depositMoney(</a:t>
            </a:r>
            <a:br/>
            <a:r>
              <a:t>        double balance, double amount) {</a:t>
            </a:r>
            <a:br/>
            <a:br/>
            <a:r>
              <a:t>    if (amount &gt; 0) {</a:t>
            </a:r>
            <a:br/>
            <a:r>
              <a:t>        balance = balance + amount;</a:t>
            </a:r>
            <a:br/>
            <a:r>
              <a:t>    }</a:t>
            </a:r>
            <a:br/>
            <a:r>
              <a:t>    return balance;</a:t>
            </a:r>
            <a:br/>
            <a:r>
              <a:t>}</a:t>
            </a:r>
            <a:br/>
            <a:br/>
            <a:r>
              <a:t>balance = depositMoney(balance, deposit);</a:t>
            </a:r>
          </a:p>
        </p:txBody>
      </p:sp>
      <p:sp>
        <p:nvSpPr>
          <p:cNvPr id="14" name="TextBox 13"/>
          <p:cNvSpPr txBox="1"/>
          <p:nvPr/>
        </p:nvSpPr>
        <p:spPr>
          <a:xfrm>
            <a:off x="6144768" y="5715000"/>
            <a:ext cx="5029200" cy="274320"/>
          </a:xfrm>
          <a:prstGeom prst="rect">
            <a:avLst/>
          </a:prstGeom>
          <a:noFill/>
        </p:spPr>
        <p:txBody>
          <a:bodyPr wrap="none">
            <a:spAutoFit/>
          </a:bodyPr>
          <a:lstStyle/>
          <a:p>
            <a:pPr>
              <a:defRPr sz="950" i="1">
                <a:solidFill>
                  <a:srgbClr val="B9C0C8"/>
                </a:solidFill>
                <a:latin typeface="Aptos"/>
              </a:defRPr>
            </a:pPr>
            <a:r>
              <a:t>Selected directly from the ATM Transaction Simulator</a:t>
            </a:r>
          </a:p>
        </p:txBody>
      </p:sp>
      <p:sp>
        <p:nvSpPr>
          <p:cNvPr id="16" name="TextBox 13"/>
          <p:cNvSpPr txBox="1"/>
          <p:nvPr/>
        </p:nvSpPr>
        <p:spPr>
          <a:xfrm>
            <a:off x="232918" y="6336665"/>
            <a:ext cx="10374630" cy="306705"/>
          </a:xfrm>
          <a:prstGeom prst="rect">
            <a:avLst/>
          </a:prstGeom>
          <a:noFill/>
        </p:spPr>
        <p:txBody>
          <a:bodyPr wrap="none">
            <a:spAutoFit/>
          </a:bodyPr>
          <a:lstStyle/>
          <a:p>
            <a:pPr algn="l">
              <a:defRPr sz="950" i="1">
                <a:solidFill>
                  <a:srgbClr val="B9C0C8"/>
                </a:solidFill>
                <a:latin typeface="Aptos"/>
              </a:defRPr>
            </a:pPr>
            <a:r>
              <a:rPr lang="en-US" altLang="en-US" sz="1400" b="1">
                <a:solidFill>
                  <a:schemeClr val="bg1">
                    <a:lumMod val="50000"/>
                  </a:schemeClr>
                </a:solidFill>
              </a:rPr>
              <a:t>Outcome: Implements modular ATM operations using methods, parameters, return values, and reusable static methods.</a:t>
            </a:r>
            <a:endParaRPr lang="en-US" altLang="en-US" sz="1400" b="1">
              <a:solidFill>
                <a:schemeClr val="bg1">
                  <a:lumMod val="50000"/>
                </a:schemeClr>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94360" y="347472"/>
            <a:ext cx="10770235" cy="506730"/>
          </a:xfrm>
          <a:prstGeom prst="rect">
            <a:avLst/>
          </a:prstGeom>
          <a:noFill/>
        </p:spPr>
        <p:txBody>
          <a:bodyPr wrap="none">
            <a:spAutoFit/>
          </a:bodyPr>
          <a:lstStyle/>
          <a:p>
            <a:pPr algn="l">
              <a:defRPr sz="2700" b="1">
                <a:solidFill>
                  <a:srgbClr val="192D46"/>
                </a:solidFill>
                <a:latin typeface="Aptos Display"/>
              </a:defRPr>
            </a:pPr>
            <a:r>
              <a:t>CO</a:t>
            </a:r>
            <a:r>
              <a:rPr lang="en-US"/>
              <a:t>4</a:t>
            </a:r>
            <a:r>
              <a:t> – </a:t>
            </a:r>
            <a:r>
              <a:rPr lang="en-US" altLang="en-US"/>
              <a:t>Object-Oriented Programming &amp; Exception Handling Used</a:t>
            </a:r>
            <a:endParaRPr lang="en-US" altLang="en-US"/>
          </a:p>
        </p:txBody>
      </p:sp>
      <p:sp>
        <p:nvSpPr>
          <p:cNvPr id="3" name="Rectangle 2"/>
          <p:cNvSpPr/>
          <p:nvPr/>
        </p:nvSpPr>
        <p:spPr>
          <a:xfrm>
            <a:off x="594360" y="1078992"/>
            <a:ext cx="10972800" cy="32004"/>
          </a:xfrm>
          <a:prstGeom prst="rect">
            <a:avLst/>
          </a:prstGeom>
          <a:solidFill>
            <a:srgbClr val="4678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94360" y="1417320"/>
            <a:ext cx="4983480" cy="4709160"/>
          </a:xfrm>
          <a:prstGeom prst="roundRect">
            <a:avLst/>
          </a:prstGeom>
          <a:solidFill>
            <a:srgbClr val="FFFFFF"/>
          </a:solidFill>
          <a:ln>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806440" y="1424940"/>
            <a:ext cx="5760720" cy="4701540"/>
          </a:xfrm>
          <a:prstGeom prst="roundRect">
            <a:avLst/>
          </a:prstGeom>
          <a:solidFill>
            <a:srgbClr val="1E2228"/>
          </a:solidFill>
          <a:ln>
            <a:solidFill>
              <a:srgbClr val="1E22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1691640"/>
            <a:ext cx="4846320" cy="365760"/>
          </a:xfrm>
          <a:prstGeom prst="rect">
            <a:avLst/>
          </a:prstGeom>
          <a:noFill/>
        </p:spPr>
        <p:txBody>
          <a:bodyPr wrap="none">
            <a:spAutoFit/>
          </a:bodyPr>
          <a:lstStyle/>
          <a:p>
            <a:pPr>
              <a:defRPr sz="1900" b="1">
                <a:solidFill>
                  <a:srgbClr val="192D46"/>
                </a:solidFill>
                <a:latin typeface="Aptos Display"/>
              </a:defRPr>
            </a:pPr>
            <a:r>
              <a:t>Concepts Used</a:t>
            </a:r>
          </a:p>
        </p:txBody>
      </p:sp>
      <p:sp>
        <p:nvSpPr>
          <p:cNvPr id="7" name="TextBox 6"/>
          <p:cNvSpPr txBox="1"/>
          <p:nvPr/>
        </p:nvSpPr>
        <p:spPr>
          <a:xfrm>
            <a:off x="6278118" y="1444625"/>
            <a:ext cx="4846320" cy="365760"/>
          </a:xfrm>
          <a:prstGeom prst="rect">
            <a:avLst/>
          </a:prstGeom>
          <a:noFill/>
        </p:spPr>
        <p:txBody>
          <a:bodyPr wrap="none">
            <a:spAutoFit/>
          </a:bodyPr>
          <a:lstStyle/>
          <a:p>
            <a:pPr>
              <a:defRPr sz="1900" b="1">
                <a:solidFill>
                  <a:srgbClr val="EBF0F5"/>
                </a:solidFill>
                <a:latin typeface="Aptos Display"/>
              </a:defRPr>
            </a:pPr>
            <a:r>
              <a:t>Code Reference</a:t>
            </a:r>
          </a:p>
        </p:txBody>
      </p:sp>
      <p:sp>
        <p:nvSpPr>
          <p:cNvPr id="8" name="TextBox 7"/>
          <p:cNvSpPr txBox="1"/>
          <p:nvPr/>
        </p:nvSpPr>
        <p:spPr>
          <a:xfrm>
            <a:off x="896112" y="2148840"/>
            <a:ext cx="4389120" cy="3155950"/>
          </a:xfrm>
          <a:prstGeom prst="rect">
            <a:avLst/>
          </a:prstGeom>
          <a:noFill/>
        </p:spPr>
        <p:txBody>
          <a:bodyPr wrap="square">
            <a:spAutoFit/>
          </a:bodyPr>
          <a:lstStyle/>
          <a:p>
            <a:pPr>
              <a:spcAft>
                <a:spcPts val="1300"/>
              </a:spcAft>
              <a:defRPr sz="1420">
                <a:solidFill>
                  <a:srgbClr val="37414B"/>
                </a:solidFill>
                <a:latin typeface="Aptos"/>
              </a:defRPr>
            </a:pPr>
            <a:r>
              <a:rPr lang="en-US" altLang="en-US" b="1"/>
              <a:t>Classes and Objects</a:t>
            </a:r>
            <a:r>
              <a:rPr lang="en-US" altLang="en-US"/>
              <a:t> – The ATM class represents the ATM system, and an object is created to access its operations.</a:t>
            </a:r>
            <a:endParaRPr lang="en-US" altLang="en-US"/>
          </a:p>
          <a:p>
            <a:pPr>
              <a:spcAft>
                <a:spcPts val="1300"/>
              </a:spcAft>
              <a:defRPr sz="1420">
                <a:solidFill>
                  <a:srgbClr val="37414B"/>
                </a:solidFill>
                <a:latin typeface="Aptos"/>
              </a:defRPr>
            </a:pPr>
            <a:r>
              <a:rPr lang="en-US" altLang="en-US" b="1"/>
              <a:t>Encapsulation</a:t>
            </a:r>
            <a:r>
              <a:rPr lang="en-US" altLang="en-US"/>
              <a:t> – The account balance is declared private to protect it from direct access.</a:t>
            </a:r>
            <a:endParaRPr lang="en-US" altLang="en-US"/>
          </a:p>
          <a:p>
            <a:pPr>
              <a:spcAft>
                <a:spcPts val="1300"/>
              </a:spcAft>
              <a:defRPr sz="1420">
                <a:solidFill>
                  <a:srgbClr val="37414B"/>
                </a:solidFill>
                <a:latin typeface="Aptos"/>
              </a:defRPr>
            </a:pPr>
            <a:r>
              <a:rPr lang="en-US" altLang="en-US" b="1"/>
              <a:t>Constructors</a:t>
            </a:r>
            <a:r>
              <a:rPr lang="en-US" altLang="en-US"/>
              <a:t> – Initialize the ATM object with its starting balance.</a:t>
            </a:r>
            <a:endParaRPr lang="en-US" altLang="en-US"/>
          </a:p>
          <a:p>
            <a:pPr>
              <a:spcAft>
                <a:spcPts val="1300"/>
              </a:spcAft>
              <a:defRPr sz="1420">
                <a:solidFill>
                  <a:srgbClr val="37414B"/>
                </a:solidFill>
                <a:latin typeface="Aptos"/>
              </a:defRPr>
            </a:pPr>
            <a:r>
              <a:rPr lang="en-US" altLang="en-US" b="1"/>
              <a:t>Exception Handling</a:t>
            </a:r>
            <a:r>
              <a:rPr lang="en-US" altLang="en-US"/>
              <a:t> – Uses try-catch to handle invalid inputs and finally for cleanup.</a:t>
            </a:r>
            <a:endParaRPr lang="en-US" altLang="en-US"/>
          </a:p>
          <a:p>
            <a:pPr>
              <a:spcAft>
                <a:spcPts val="1300"/>
              </a:spcAft>
              <a:defRPr sz="1420">
                <a:solidFill>
                  <a:srgbClr val="37414B"/>
                </a:solidFill>
                <a:latin typeface="Aptos"/>
              </a:defRPr>
            </a:pPr>
            <a:r>
              <a:rPr lang="en-US" altLang="en-US" b="1"/>
              <a:t>Access Modifiers</a:t>
            </a:r>
            <a:r>
              <a:rPr lang="en-US" altLang="en-US"/>
              <a:t> – Uses private to restrict access to internal data.</a:t>
            </a:r>
            <a:endParaRPr lang="en-US" altLang="en-US"/>
          </a:p>
        </p:txBody>
      </p:sp>
      <p:sp>
        <p:nvSpPr>
          <p:cNvPr id="9" name="Rounded Rectangle 8"/>
          <p:cNvSpPr/>
          <p:nvPr/>
        </p:nvSpPr>
        <p:spPr>
          <a:xfrm>
            <a:off x="6007735" y="1814195"/>
            <a:ext cx="5166360" cy="3661410"/>
          </a:xfrm>
          <a:prstGeom prst="roundRect">
            <a:avLst/>
          </a:prstGeom>
          <a:solidFill>
            <a:srgbClr val="14171C"/>
          </a:solidFill>
          <a:ln>
            <a:solidFill>
              <a:srgbClr val="41464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327775" y="1956943"/>
            <a:ext cx="100584" cy="100584"/>
          </a:xfrm>
          <a:prstGeom prst="ellipse">
            <a:avLst/>
          </a:prstGeom>
          <a:solidFill>
            <a:schemeClr val="accent2">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10528" y="1956943"/>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711696" y="1956943"/>
            <a:ext cx="100584" cy="100584"/>
          </a:xfrm>
          <a:prstGeom prst="ellipse">
            <a:avLst/>
          </a:prstGeom>
          <a:solidFill>
            <a:srgbClr val="00B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867535"/>
            <a:ext cx="4593590" cy="3809365"/>
          </a:xfrm>
          <a:prstGeom prst="rect">
            <a:avLst/>
          </a:prstGeom>
          <a:noFill/>
        </p:spPr>
        <p:txBody>
          <a:bodyPr wrap="none">
            <a:noAutofit/>
          </a:bodyPr>
          <a:lstStyle/>
          <a:p>
            <a:pPr algn="l">
              <a:spcAft>
                <a:spcPts val="0"/>
              </a:spcAft>
              <a:defRPr sz="1250">
                <a:solidFill>
                  <a:srgbClr val="EBEEF2"/>
                </a:solidFill>
                <a:latin typeface="Menlo" panose="020B0609030804020204"/>
              </a:defRPr>
            </a:pPr>
            <a:endParaRPr lang="en-US" altLang="en-US"/>
          </a:p>
          <a:p>
            <a:pPr algn="l">
              <a:spcAft>
                <a:spcPts val="0"/>
              </a:spcAft>
              <a:defRPr sz="1250">
                <a:solidFill>
                  <a:srgbClr val="EBEEF2"/>
                </a:solidFill>
                <a:latin typeface="Menlo" panose="020B0609030804020204"/>
              </a:defRPr>
            </a:pPr>
            <a:endParaRPr lang="en-US" altLang="en-US"/>
          </a:p>
          <a:p>
            <a:pPr algn="l">
              <a:spcAft>
                <a:spcPts val="0"/>
              </a:spcAft>
              <a:defRPr sz="1250">
                <a:solidFill>
                  <a:srgbClr val="EBEEF2"/>
                </a:solidFill>
                <a:latin typeface="Menlo" panose="020B0609030804020204"/>
              </a:defRPr>
            </a:pPr>
            <a:r>
              <a:rPr lang="en-US" altLang="en-US"/>
              <a:t>// CONSTRUCTORS</a:t>
            </a:r>
            <a:endParaRPr lang="en-US" altLang="en-US"/>
          </a:p>
          <a:p>
            <a:pPr algn="l">
              <a:spcAft>
                <a:spcPts val="0"/>
              </a:spcAft>
              <a:defRPr sz="1250">
                <a:solidFill>
                  <a:srgbClr val="EBEEF2"/>
                </a:solidFill>
                <a:latin typeface="Menlo" panose="020B0609030804020204"/>
              </a:defRPr>
            </a:pPr>
            <a:endParaRPr lang="en-US" altLang="en-US"/>
          </a:p>
          <a:p>
            <a:pPr algn="l">
              <a:spcAft>
                <a:spcPts val="0"/>
              </a:spcAft>
              <a:defRPr sz="1250">
                <a:solidFill>
                  <a:srgbClr val="EBEEF2"/>
                </a:solidFill>
                <a:latin typeface="Menlo" panose="020B0609030804020204"/>
              </a:defRPr>
            </a:pPr>
            <a:r>
              <a:rPr lang="en-US" altLang="en-US"/>
              <a:t>class ATM {</a:t>
            </a:r>
            <a:endParaRPr lang="en-US" altLang="en-US"/>
          </a:p>
          <a:p>
            <a:pPr algn="l">
              <a:spcAft>
                <a:spcPts val="0"/>
              </a:spcAft>
              <a:defRPr sz="1250">
                <a:solidFill>
                  <a:srgbClr val="EBEEF2"/>
                </a:solidFill>
                <a:latin typeface="Menlo" panose="020B0609030804020204"/>
              </a:defRPr>
            </a:pPr>
            <a:r>
              <a:rPr lang="en-US" altLang="en-US"/>
              <a:t>    private double balance;</a:t>
            </a:r>
            <a:endParaRPr lang="en-US" altLang="en-US"/>
          </a:p>
          <a:p>
            <a:pPr algn="l">
              <a:spcAft>
                <a:spcPts val="0"/>
              </a:spcAft>
              <a:defRPr sz="1250">
                <a:solidFill>
                  <a:srgbClr val="EBEEF2"/>
                </a:solidFill>
                <a:latin typeface="Menlo" panose="020B0609030804020204"/>
              </a:defRPr>
            </a:pPr>
            <a:r>
              <a:rPr lang="en-US" altLang="en-US"/>
              <a:t>    ATM(double balance) {</a:t>
            </a:r>
            <a:endParaRPr lang="en-US" altLang="en-US"/>
          </a:p>
          <a:p>
            <a:pPr algn="l">
              <a:spcAft>
                <a:spcPts val="0"/>
              </a:spcAft>
              <a:defRPr sz="1250">
                <a:solidFill>
                  <a:srgbClr val="EBEEF2"/>
                </a:solidFill>
                <a:latin typeface="Menlo" panose="020B0609030804020204"/>
              </a:defRPr>
            </a:pPr>
            <a:r>
              <a:rPr lang="en-US" altLang="en-US"/>
              <a:t>        this.balance = balance;</a:t>
            </a:r>
            <a:endParaRPr lang="en-US" altLang="en-US"/>
          </a:p>
          <a:p>
            <a:pPr algn="l">
              <a:spcAft>
                <a:spcPts val="0"/>
              </a:spcAft>
              <a:defRPr sz="1250">
                <a:solidFill>
                  <a:srgbClr val="EBEEF2"/>
                </a:solidFill>
                <a:latin typeface="Menlo" panose="020B0609030804020204"/>
              </a:defRPr>
            </a:pPr>
            <a:r>
              <a:rPr lang="en-US" altLang="en-US"/>
              <a:t>    }</a:t>
            </a:r>
            <a:endParaRPr lang="en-US" altLang="en-US"/>
          </a:p>
          <a:p>
            <a:pPr algn="l">
              <a:spcAft>
                <a:spcPts val="0"/>
              </a:spcAft>
              <a:defRPr sz="1250">
                <a:solidFill>
                  <a:srgbClr val="EBEEF2"/>
                </a:solidFill>
                <a:latin typeface="Menlo" panose="020B0609030804020204"/>
              </a:defRPr>
            </a:pPr>
            <a:r>
              <a:rPr lang="en-US" altLang="en-US"/>
              <a:t>    double checkBalance() {</a:t>
            </a:r>
            <a:endParaRPr lang="en-US" altLang="en-US"/>
          </a:p>
          <a:p>
            <a:pPr algn="l">
              <a:spcAft>
                <a:spcPts val="0"/>
              </a:spcAft>
              <a:defRPr sz="1250">
                <a:solidFill>
                  <a:srgbClr val="EBEEF2"/>
                </a:solidFill>
                <a:latin typeface="Menlo" panose="020B0609030804020204"/>
              </a:defRPr>
            </a:pPr>
            <a:r>
              <a:rPr lang="en-US" altLang="en-US"/>
              <a:t>        return balance;</a:t>
            </a:r>
            <a:endParaRPr lang="en-US" altLang="en-US"/>
          </a:p>
          <a:p>
            <a:pPr algn="l">
              <a:spcAft>
                <a:spcPts val="0"/>
              </a:spcAft>
              <a:defRPr sz="1250">
                <a:solidFill>
                  <a:srgbClr val="EBEEF2"/>
                </a:solidFill>
                <a:latin typeface="Menlo" panose="020B0609030804020204"/>
              </a:defRPr>
            </a:pPr>
            <a:r>
              <a:rPr lang="en-US" altLang="en-US"/>
              <a:t>    }</a:t>
            </a:r>
            <a:br>
              <a:rPr lang="en-US" altLang="en-US"/>
            </a:br>
            <a:r>
              <a:rPr lang="en-US" altLang="en-US"/>
              <a:t>}</a:t>
            </a:r>
            <a:endParaRPr lang="en-US" altLang="en-US"/>
          </a:p>
          <a:p>
            <a:pPr algn="l">
              <a:spcAft>
                <a:spcPts val="0"/>
              </a:spcAft>
              <a:defRPr sz="1250">
                <a:solidFill>
                  <a:srgbClr val="EBEEF2"/>
                </a:solidFill>
                <a:latin typeface="Menlo" panose="020B0609030804020204"/>
              </a:defRPr>
            </a:pPr>
            <a:r>
              <a:rPr lang="en-US" altLang="en-US"/>
              <a:t>ATM atm = new ATM(10000);</a:t>
            </a:r>
            <a:endParaRPr lang="en-US" altLang="en-US"/>
          </a:p>
          <a:p>
            <a:pPr algn="l">
              <a:spcAft>
                <a:spcPts val="0"/>
              </a:spcAft>
              <a:defRPr sz="1250">
                <a:solidFill>
                  <a:srgbClr val="EBEEF2"/>
                </a:solidFill>
                <a:latin typeface="Menlo" panose="020B0609030804020204"/>
              </a:defRPr>
            </a:pPr>
            <a:r>
              <a:rPr lang="en-US" altLang="en-US"/>
              <a:t>System.out.println(atm.checkBalance());</a:t>
            </a:r>
            <a:endParaRPr lang="en-US" altLang="en-US"/>
          </a:p>
        </p:txBody>
      </p:sp>
      <p:sp>
        <p:nvSpPr>
          <p:cNvPr id="14" name="TextBox 13"/>
          <p:cNvSpPr txBox="1"/>
          <p:nvPr/>
        </p:nvSpPr>
        <p:spPr>
          <a:xfrm>
            <a:off x="6095238" y="5522595"/>
            <a:ext cx="5029200" cy="274320"/>
          </a:xfrm>
          <a:prstGeom prst="rect">
            <a:avLst/>
          </a:prstGeom>
          <a:noFill/>
        </p:spPr>
        <p:txBody>
          <a:bodyPr wrap="none">
            <a:spAutoFit/>
          </a:bodyPr>
          <a:lstStyle/>
          <a:p>
            <a:pPr>
              <a:defRPr sz="950" i="1">
                <a:solidFill>
                  <a:srgbClr val="B9C0C8"/>
                </a:solidFill>
                <a:latin typeface="Aptos"/>
              </a:defRPr>
            </a:pPr>
            <a:r>
              <a:t>Selected directly from the ATM Transaction Simulator</a:t>
            </a:r>
          </a:p>
        </p:txBody>
      </p:sp>
      <p:sp>
        <p:nvSpPr>
          <p:cNvPr id="16" name="TextBox 13"/>
          <p:cNvSpPr txBox="1"/>
          <p:nvPr/>
        </p:nvSpPr>
        <p:spPr>
          <a:xfrm>
            <a:off x="211455" y="6274435"/>
            <a:ext cx="11979910" cy="584200"/>
          </a:xfrm>
          <a:prstGeom prst="rect">
            <a:avLst/>
          </a:prstGeom>
          <a:noFill/>
        </p:spPr>
        <p:txBody>
          <a:bodyPr wrap="square">
            <a:noAutofit/>
          </a:bodyPr>
          <a:lstStyle/>
          <a:p>
            <a:pPr algn="l">
              <a:defRPr sz="950" i="1">
                <a:solidFill>
                  <a:srgbClr val="B9C0C8"/>
                </a:solidFill>
                <a:latin typeface="Aptos"/>
              </a:defRPr>
            </a:pPr>
            <a:r>
              <a:rPr lang="en-US" altLang="en-US" sz="1400" b="1">
                <a:solidFill>
                  <a:schemeClr val="bg1">
                    <a:lumMod val="50000"/>
                  </a:schemeClr>
                </a:solidFill>
              </a:rPr>
              <a:t>Outcome: Applies object-oriented programming through classes, objects, constructors, and encapsulation, while handling runtime errors                 	        using exception handling.</a:t>
            </a:r>
            <a:endParaRPr lang="en-US" altLang="en-US" sz="1400" b="1">
              <a:solidFill>
                <a:schemeClr val="bg1">
                  <a:lumMod val="50000"/>
                </a:schemeClr>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94360" y="347472"/>
            <a:ext cx="6313170" cy="506730"/>
          </a:xfrm>
          <a:prstGeom prst="rect">
            <a:avLst/>
          </a:prstGeom>
          <a:noFill/>
        </p:spPr>
        <p:txBody>
          <a:bodyPr wrap="none">
            <a:spAutoFit/>
          </a:bodyPr>
          <a:lstStyle/>
          <a:p>
            <a:pPr algn="l">
              <a:defRPr sz="2700" b="1">
                <a:solidFill>
                  <a:srgbClr val="192D46"/>
                </a:solidFill>
                <a:latin typeface="Aptos Display"/>
              </a:defRPr>
            </a:pPr>
            <a:r>
              <a:t>CO</a:t>
            </a:r>
            <a:r>
              <a:rPr lang="en-US"/>
              <a:t>5</a:t>
            </a:r>
            <a:r>
              <a:t> – </a:t>
            </a:r>
            <a:r>
              <a:rPr lang="en-US" altLang="en-US"/>
              <a:t>String Handling &amp; File I/O Used</a:t>
            </a:r>
            <a:endParaRPr lang="en-US" altLang="en-US"/>
          </a:p>
        </p:txBody>
      </p:sp>
      <p:sp>
        <p:nvSpPr>
          <p:cNvPr id="3" name="Rectangle 2"/>
          <p:cNvSpPr/>
          <p:nvPr/>
        </p:nvSpPr>
        <p:spPr>
          <a:xfrm>
            <a:off x="594360" y="1078992"/>
            <a:ext cx="10972800" cy="32004"/>
          </a:xfrm>
          <a:prstGeom prst="rect">
            <a:avLst/>
          </a:prstGeom>
          <a:solidFill>
            <a:srgbClr val="4678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94360" y="1417320"/>
            <a:ext cx="4983480" cy="4709160"/>
          </a:xfrm>
          <a:prstGeom prst="roundRect">
            <a:avLst/>
          </a:prstGeom>
          <a:solidFill>
            <a:srgbClr val="FFFFFF"/>
          </a:solidFill>
          <a:ln>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1691640"/>
            <a:ext cx="4846320" cy="365760"/>
          </a:xfrm>
          <a:prstGeom prst="rect">
            <a:avLst/>
          </a:prstGeom>
          <a:noFill/>
        </p:spPr>
        <p:txBody>
          <a:bodyPr wrap="none">
            <a:spAutoFit/>
          </a:bodyPr>
          <a:lstStyle/>
          <a:p>
            <a:pPr>
              <a:defRPr sz="1900" b="1">
                <a:solidFill>
                  <a:srgbClr val="192D46"/>
                </a:solidFill>
                <a:latin typeface="Aptos Display"/>
              </a:defRPr>
            </a:pPr>
            <a:r>
              <a:t>Concepts Used</a:t>
            </a:r>
          </a:p>
        </p:txBody>
      </p:sp>
      <p:sp>
        <p:nvSpPr>
          <p:cNvPr id="8" name="TextBox 7"/>
          <p:cNvSpPr txBox="1"/>
          <p:nvPr/>
        </p:nvSpPr>
        <p:spPr>
          <a:xfrm>
            <a:off x="896112" y="2148840"/>
            <a:ext cx="4389120" cy="2553335"/>
          </a:xfrm>
          <a:prstGeom prst="rect">
            <a:avLst/>
          </a:prstGeom>
          <a:noFill/>
        </p:spPr>
        <p:txBody>
          <a:bodyPr wrap="square">
            <a:spAutoFit/>
          </a:bodyPr>
          <a:lstStyle/>
          <a:p>
            <a:pPr>
              <a:spcAft>
                <a:spcPts val="1300"/>
              </a:spcAft>
              <a:defRPr sz="1420">
                <a:solidFill>
                  <a:srgbClr val="37414B"/>
                </a:solidFill>
                <a:latin typeface="Aptos"/>
              </a:defRPr>
            </a:pPr>
            <a:r>
              <a:rPr lang="en-US" altLang="en-US" b="1"/>
              <a:t>String Handling</a:t>
            </a:r>
            <a:r>
              <a:rPr lang="en-US" altLang="en-US"/>
              <a:t> – Stores transaction details as strings.</a:t>
            </a:r>
            <a:endParaRPr lang="en-US" altLang="en-US"/>
          </a:p>
          <a:p>
            <a:pPr>
              <a:spcAft>
                <a:spcPts val="1300"/>
              </a:spcAft>
              <a:defRPr sz="1420">
                <a:solidFill>
                  <a:srgbClr val="37414B"/>
                </a:solidFill>
                <a:latin typeface="Aptos"/>
              </a:defRPr>
            </a:pPr>
            <a:r>
              <a:rPr lang="en-US" altLang="en-US" b="1"/>
              <a:t>String Methods </a:t>
            </a:r>
            <a:r>
              <a:rPr lang="en-US" altLang="en-US"/>
              <a:t>– Uses methods such as contains() to search transaction descriptions.</a:t>
            </a:r>
            <a:endParaRPr lang="en-US" altLang="en-US"/>
          </a:p>
          <a:p>
            <a:pPr>
              <a:spcAft>
                <a:spcPts val="1300"/>
              </a:spcAft>
              <a:defRPr sz="1420">
                <a:solidFill>
                  <a:srgbClr val="37414B"/>
                </a:solidFill>
                <a:latin typeface="Aptos"/>
              </a:defRPr>
            </a:pPr>
            <a:r>
              <a:rPr lang="en-US" altLang="en-US" b="1"/>
              <a:t>File Handling </a:t>
            </a:r>
            <a:r>
              <a:rPr lang="en-US" altLang="en-US"/>
              <a:t>– Stores transaction records in transactions.txt.</a:t>
            </a:r>
            <a:endParaRPr lang="en-US" altLang="en-US"/>
          </a:p>
          <a:p>
            <a:pPr>
              <a:spcAft>
                <a:spcPts val="1300"/>
              </a:spcAft>
              <a:defRPr sz="1420">
                <a:solidFill>
                  <a:srgbClr val="37414B"/>
                </a:solidFill>
                <a:latin typeface="Aptos"/>
              </a:defRPr>
            </a:pPr>
            <a:r>
              <a:rPr lang="en-US" altLang="en-US" b="1"/>
              <a:t>File Writing and Appending</a:t>
            </a:r>
            <a:r>
              <a:rPr lang="en-US" altLang="en-US"/>
              <a:t> – Adds new transaction records without overwriting existing records.</a:t>
            </a:r>
            <a:endParaRPr lang="en-US" altLang="en-US"/>
          </a:p>
        </p:txBody>
      </p:sp>
      <p:sp>
        <p:nvSpPr>
          <p:cNvPr id="16" name="Rounded Rectangle 15"/>
          <p:cNvSpPr/>
          <p:nvPr/>
        </p:nvSpPr>
        <p:spPr>
          <a:xfrm>
            <a:off x="5806440" y="1141095"/>
            <a:ext cx="5760720" cy="5177790"/>
          </a:xfrm>
          <a:prstGeom prst="roundRect">
            <a:avLst/>
          </a:prstGeom>
          <a:solidFill>
            <a:srgbClr val="1E2228"/>
          </a:solidFill>
          <a:ln>
            <a:solidFill>
              <a:srgbClr val="1E22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6"/>
          <p:cNvSpPr txBox="1"/>
          <p:nvPr/>
        </p:nvSpPr>
        <p:spPr>
          <a:xfrm>
            <a:off x="6327648" y="1177925"/>
            <a:ext cx="4846320" cy="365760"/>
          </a:xfrm>
          <a:prstGeom prst="rect">
            <a:avLst/>
          </a:prstGeom>
          <a:noFill/>
        </p:spPr>
        <p:txBody>
          <a:bodyPr wrap="none">
            <a:spAutoFit/>
          </a:bodyPr>
          <a:lstStyle/>
          <a:p>
            <a:pPr>
              <a:defRPr sz="1900" b="1">
                <a:solidFill>
                  <a:srgbClr val="EBF0F5"/>
                </a:solidFill>
                <a:latin typeface="Aptos Display"/>
              </a:defRPr>
            </a:pPr>
            <a:r>
              <a:t>Code Reference</a:t>
            </a:r>
          </a:p>
        </p:txBody>
      </p:sp>
      <p:sp>
        <p:nvSpPr>
          <p:cNvPr id="18" name="Rounded Rectangle 17"/>
          <p:cNvSpPr/>
          <p:nvPr/>
        </p:nvSpPr>
        <p:spPr>
          <a:xfrm>
            <a:off x="6007735" y="1581785"/>
            <a:ext cx="5356860" cy="4302125"/>
          </a:xfrm>
          <a:prstGeom prst="roundRect">
            <a:avLst/>
          </a:prstGeom>
          <a:solidFill>
            <a:srgbClr val="14171C"/>
          </a:solidFill>
          <a:ln>
            <a:solidFill>
              <a:srgbClr val="41464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309360" y="1741678"/>
            <a:ext cx="100584" cy="100584"/>
          </a:xfrm>
          <a:prstGeom prst="ellipse">
            <a:avLst/>
          </a:prstGeom>
          <a:solidFill>
            <a:schemeClr val="accent2">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10528" y="1741678"/>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711696" y="1741678"/>
            <a:ext cx="100584" cy="100584"/>
          </a:xfrm>
          <a:prstGeom prst="ellipse">
            <a:avLst/>
          </a:prstGeom>
          <a:solidFill>
            <a:srgbClr val="00B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12"/>
          <p:cNvSpPr txBox="1"/>
          <p:nvPr/>
        </p:nvSpPr>
        <p:spPr>
          <a:xfrm>
            <a:off x="6409690" y="1905635"/>
            <a:ext cx="4593590" cy="3947795"/>
          </a:xfrm>
          <a:prstGeom prst="rect">
            <a:avLst/>
          </a:prstGeom>
          <a:noFill/>
        </p:spPr>
        <p:txBody>
          <a:bodyPr wrap="none">
            <a:noAutofit/>
          </a:bodyPr>
          <a:lstStyle/>
          <a:p>
            <a:pPr algn="l">
              <a:spcAft>
                <a:spcPts val="0"/>
              </a:spcAft>
              <a:defRPr sz="1250">
                <a:solidFill>
                  <a:srgbClr val="EBEEF2"/>
                </a:solidFill>
                <a:latin typeface="Menlo" panose="020B0609030804020204"/>
              </a:defRPr>
            </a:pPr>
            <a:endParaRPr lang="en-US" altLang="en-US" sz="1000"/>
          </a:p>
          <a:p>
            <a:pPr algn="l">
              <a:spcAft>
                <a:spcPts val="0"/>
              </a:spcAft>
              <a:defRPr sz="1250">
                <a:solidFill>
                  <a:srgbClr val="EBEEF2"/>
                </a:solidFill>
                <a:latin typeface="Menlo" panose="020B0609030804020204"/>
              </a:defRPr>
            </a:pPr>
            <a:r>
              <a:rPr lang="en-US" altLang="en-US" sz="1000"/>
              <a:t>import java.io.FileWriter;</a:t>
            </a:r>
            <a:endParaRPr lang="en-US" altLang="en-US" sz="1000"/>
          </a:p>
          <a:p>
            <a:pPr algn="l">
              <a:spcAft>
                <a:spcPts val="0"/>
              </a:spcAft>
              <a:defRPr sz="1250">
                <a:solidFill>
                  <a:srgbClr val="EBEEF2"/>
                </a:solidFill>
                <a:latin typeface="Menlo" panose="020B0609030804020204"/>
              </a:defRPr>
            </a:pPr>
            <a:r>
              <a:rPr lang="en-US" altLang="en-US" sz="1000"/>
              <a:t>import java.io.IOException;</a:t>
            </a:r>
            <a:endParaRPr lang="en-US" altLang="en-US" sz="1000"/>
          </a:p>
          <a:p>
            <a:pPr algn="l">
              <a:spcAft>
                <a:spcPts val="0"/>
              </a:spcAft>
              <a:defRPr sz="1250">
                <a:solidFill>
                  <a:srgbClr val="EBEEF2"/>
                </a:solidFill>
                <a:latin typeface="Menlo" panose="020B0609030804020204"/>
              </a:defRPr>
            </a:pPr>
            <a:endParaRPr lang="en-US" altLang="en-US" sz="1000"/>
          </a:p>
          <a:p>
            <a:pPr algn="l">
              <a:spcAft>
                <a:spcPts val="0"/>
              </a:spcAft>
              <a:defRPr sz="1250">
                <a:solidFill>
                  <a:srgbClr val="EBEEF2"/>
                </a:solidFill>
                <a:latin typeface="Menlo" panose="020B0609030804020204"/>
              </a:defRPr>
            </a:pPr>
            <a:r>
              <a:rPr lang="en-US" altLang="en-US" sz="1000"/>
              <a:t>        String transaction = "Deposit: Rs. 500";</a:t>
            </a:r>
            <a:endParaRPr lang="en-US" altLang="en-US" sz="1000"/>
          </a:p>
          <a:p>
            <a:pPr algn="l">
              <a:spcAft>
                <a:spcPts val="0"/>
              </a:spcAft>
              <a:defRPr sz="1250">
                <a:solidFill>
                  <a:srgbClr val="EBEEF2"/>
                </a:solidFill>
                <a:latin typeface="Menlo" panose="020B0609030804020204"/>
              </a:defRPr>
            </a:pPr>
            <a:endParaRPr lang="en-US" altLang="en-US" sz="1000"/>
          </a:p>
          <a:p>
            <a:pPr algn="l">
              <a:spcAft>
                <a:spcPts val="0"/>
              </a:spcAft>
              <a:defRPr sz="1250">
                <a:solidFill>
                  <a:srgbClr val="EBEEF2"/>
                </a:solidFill>
                <a:latin typeface="Menlo" panose="020B0609030804020204"/>
              </a:defRPr>
            </a:pPr>
            <a:r>
              <a:rPr lang="en-US" altLang="en-US" sz="1000"/>
              <a:t>        try {</a:t>
            </a:r>
            <a:endParaRPr lang="en-US" altLang="en-US" sz="1000"/>
          </a:p>
          <a:p>
            <a:pPr algn="l">
              <a:spcAft>
                <a:spcPts val="0"/>
              </a:spcAft>
              <a:defRPr sz="1250">
                <a:solidFill>
                  <a:srgbClr val="EBEEF2"/>
                </a:solidFill>
                <a:latin typeface="Menlo" panose="020B0609030804020204"/>
              </a:defRPr>
            </a:pPr>
            <a:r>
              <a:rPr lang="en-US" altLang="en-US" sz="1000"/>
              <a:t>            FileWriter fw = new </a:t>
            </a:r>
            <a:endParaRPr lang="en-US" altLang="en-US" sz="1000"/>
          </a:p>
          <a:p>
            <a:pPr marL="914400" lvl="2" indent="457200" algn="l">
              <a:spcAft>
                <a:spcPts val="0"/>
              </a:spcAft>
              <a:defRPr sz="1250">
                <a:solidFill>
                  <a:srgbClr val="EBEEF2"/>
                </a:solidFill>
                <a:latin typeface="Menlo" panose="020B0609030804020204"/>
              </a:defRPr>
            </a:pPr>
            <a:r>
              <a:rPr lang="en-US" altLang="en-US" sz="1000"/>
              <a:t>FileWriter("transactions.txt", true);</a:t>
            </a:r>
            <a:endParaRPr lang="en-US" altLang="en-US" sz="1000"/>
          </a:p>
          <a:p>
            <a:pPr algn="l">
              <a:spcAft>
                <a:spcPts val="0"/>
              </a:spcAft>
              <a:defRPr sz="1250">
                <a:solidFill>
                  <a:srgbClr val="EBEEF2"/>
                </a:solidFill>
                <a:latin typeface="Menlo" panose="020B0609030804020204"/>
              </a:defRPr>
            </a:pPr>
            <a:r>
              <a:rPr lang="en-US" altLang="en-US" sz="1000"/>
              <a:t>            fw.write(transaction + "\n");</a:t>
            </a:r>
            <a:endParaRPr lang="en-US" altLang="en-US" sz="1000"/>
          </a:p>
          <a:p>
            <a:pPr algn="l">
              <a:spcAft>
                <a:spcPts val="0"/>
              </a:spcAft>
              <a:defRPr sz="1250">
                <a:solidFill>
                  <a:srgbClr val="EBEEF2"/>
                </a:solidFill>
                <a:latin typeface="Menlo" panose="020B0609030804020204"/>
              </a:defRPr>
            </a:pPr>
            <a:r>
              <a:rPr lang="en-US" altLang="en-US" sz="1000"/>
              <a:t>            fw.close();</a:t>
            </a:r>
            <a:endParaRPr lang="en-US" altLang="en-US" sz="1000"/>
          </a:p>
          <a:p>
            <a:pPr algn="l">
              <a:spcAft>
                <a:spcPts val="0"/>
              </a:spcAft>
              <a:defRPr sz="1250">
                <a:solidFill>
                  <a:srgbClr val="EBEEF2"/>
                </a:solidFill>
                <a:latin typeface="Menlo" panose="020B0609030804020204"/>
              </a:defRPr>
            </a:pPr>
            <a:endParaRPr lang="en-US" altLang="en-US" sz="1000"/>
          </a:p>
          <a:p>
            <a:pPr algn="l">
              <a:spcAft>
                <a:spcPts val="0"/>
              </a:spcAft>
              <a:defRPr sz="1250">
                <a:solidFill>
                  <a:srgbClr val="EBEEF2"/>
                </a:solidFill>
                <a:latin typeface="Menlo" panose="020B0609030804020204"/>
              </a:defRPr>
            </a:pPr>
            <a:r>
              <a:rPr lang="en-US" altLang="en-US" sz="1000"/>
              <a:t>            System.out.println("Transaction </a:t>
            </a:r>
            <a:endParaRPr lang="en-US" altLang="en-US" sz="1000"/>
          </a:p>
          <a:p>
            <a:pPr algn="l">
              <a:spcAft>
                <a:spcPts val="0"/>
              </a:spcAft>
              <a:defRPr sz="1250">
                <a:solidFill>
                  <a:srgbClr val="EBEEF2"/>
                </a:solidFill>
                <a:latin typeface="Menlo" panose="020B0609030804020204"/>
              </a:defRPr>
            </a:pPr>
            <a:r>
              <a:rPr lang="en-US" altLang="en-US" sz="1000"/>
              <a:t>                                saved successfully.");</a:t>
            </a:r>
            <a:endParaRPr lang="en-US" altLang="en-US" sz="1000"/>
          </a:p>
          <a:p>
            <a:pPr algn="l">
              <a:spcAft>
                <a:spcPts val="0"/>
              </a:spcAft>
              <a:defRPr sz="1250">
                <a:solidFill>
                  <a:srgbClr val="EBEEF2"/>
                </a:solidFill>
                <a:latin typeface="Menlo" panose="020B0609030804020204"/>
              </a:defRPr>
            </a:pPr>
            <a:r>
              <a:rPr lang="en-US" altLang="en-US" sz="1000"/>
              <a:t>        } catch (IOException e) {</a:t>
            </a:r>
            <a:endParaRPr lang="en-US" altLang="en-US" sz="1000"/>
          </a:p>
          <a:p>
            <a:pPr algn="l">
              <a:spcAft>
                <a:spcPts val="0"/>
              </a:spcAft>
              <a:defRPr sz="1250">
                <a:solidFill>
                  <a:srgbClr val="EBEEF2"/>
                </a:solidFill>
                <a:latin typeface="Menlo" panose="020B0609030804020204"/>
              </a:defRPr>
            </a:pPr>
            <a:r>
              <a:rPr lang="en-US" altLang="en-US" sz="1000"/>
              <a:t>            System.out.println("Error saving </a:t>
            </a:r>
            <a:endParaRPr lang="en-US" altLang="en-US" sz="1000"/>
          </a:p>
          <a:p>
            <a:pPr algn="l">
              <a:spcAft>
                <a:spcPts val="0"/>
              </a:spcAft>
              <a:defRPr sz="1250">
                <a:solidFill>
                  <a:srgbClr val="EBEEF2"/>
                </a:solidFill>
                <a:latin typeface="Menlo" panose="020B0609030804020204"/>
              </a:defRPr>
            </a:pPr>
            <a:r>
              <a:rPr lang="en-US" altLang="en-US" sz="1000"/>
              <a:t>                                transaction.");</a:t>
            </a:r>
            <a:endParaRPr lang="en-US" altLang="en-US" sz="1000"/>
          </a:p>
          <a:p>
            <a:pPr algn="l">
              <a:spcAft>
                <a:spcPts val="0"/>
              </a:spcAft>
              <a:defRPr sz="1250">
                <a:solidFill>
                  <a:srgbClr val="EBEEF2"/>
                </a:solidFill>
                <a:latin typeface="Menlo" panose="020B0609030804020204"/>
              </a:defRPr>
            </a:pPr>
            <a:r>
              <a:rPr lang="en-US" altLang="en-US" sz="1000"/>
              <a:t>        }</a:t>
            </a:r>
            <a:endParaRPr lang="en-US" altLang="en-US" sz="1000"/>
          </a:p>
          <a:p>
            <a:pPr algn="l">
              <a:spcAft>
                <a:spcPts val="0"/>
              </a:spcAft>
              <a:defRPr sz="1250">
                <a:solidFill>
                  <a:srgbClr val="EBEEF2"/>
                </a:solidFill>
                <a:latin typeface="Menlo" panose="020B0609030804020204"/>
              </a:defRPr>
            </a:pPr>
            <a:r>
              <a:rPr lang="en-US" altLang="en-US" sz="1000"/>
              <a:t>    }</a:t>
            </a:r>
            <a:endParaRPr lang="en-US" altLang="en-US" sz="1000"/>
          </a:p>
          <a:p>
            <a:pPr algn="l">
              <a:spcAft>
                <a:spcPts val="0"/>
              </a:spcAft>
              <a:defRPr sz="1250">
                <a:solidFill>
                  <a:srgbClr val="EBEEF2"/>
                </a:solidFill>
                <a:latin typeface="Menlo" panose="020B0609030804020204"/>
              </a:defRPr>
            </a:pPr>
            <a:r>
              <a:rPr lang="en-US" altLang="en-US" sz="1000"/>
              <a:t>}</a:t>
            </a:r>
            <a:endParaRPr lang="en-US" altLang="en-US" sz="1000"/>
          </a:p>
          <a:p>
            <a:pPr algn="l">
              <a:spcAft>
                <a:spcPts val="0"/>
              </a:spcAft>
              <a:defRPr sz="1250">
                <a:solidFill>
                  <a:srgbClr val="EBEEF2"/>
                </a:solidFill>
                <a:latin typeface="Menlo" panose="020B0609030804020204"/>
              </a:defRPr>
            </a:pPr>
            <a:endParaRPr lang="en-US" altLang="en-US" sz="1000"/>
          </a:p>
        </p:txBody>
      </p:sp>
      <p:sp>
        <p:nvSpPr>
          <p:cNvPr id="23" name="TextBox 13"/>
          <p:cNvSpPr txBox="1"/>
          <p:nvPr/>
        </p:nvSpPr>
        <p:spPr>
          <a:xfrm>
            <a:off x="6335268" y="6005830"/>
            <a:ext cx="5029200" cy="274320"/>
          </a:xfrm>
          <a:prstGeom prst="rect">
            <a:avLst/>
          </a:prstGeom>
          <a:noFill/>
        </p:spPr>
        <p:txBody>
          <a:bodyPr wrap="none">
            <a:spAutoFit/>
          </a:bodyPr>
          <a:lstStyle/>
          <a:p>
            <a:pPr>
              <a:defRPr sz="950" i="1">
                <a:solidFill>
                  <a:srgbClr val="B9C0C8"/>
                </a:solidFill>
                <a:latin typeface="Aptos"/>
              </a:defRPr>
            </a:pPr>
            <a:r>
              <a:t>Selected directly from the ATM Transaction Simulator</a:t>
            </a:r>
          </a:p>
        </p:txBody>
      </p:sp>
      <p:sp>
        <p:nvSpPr>
          <p:cNvPr id="5" name="TextBox 13"/>
          <p:cNvSpPr txBox="1"/>
          <p:nvPr/>
        </p:nvSpPr>
        <p:spPr>
          <a:xfrm>
            <a:off x="2672588" y="6440805"/>
            <a:ext cx="7373620" cy="306705"/>
          </a:xfrm>
          <a:prstGeom prst="rect">
            <a:avLst/>
          </a:prstGeom>
          <a:noFill/>
        </p:spPr>
        <p:txBody>
          <a:bodyPr wrap="none">
            <a:spAutoFit/>
          </a:bodyPr>
          <a:lstStyle/>
          <a:p>
            <a:pPr algn="l">
              <a:defRPr sz="950" i="1">
                <a:solidFill>
                  <a:srgbClr val="B9C0C8"/>
                </a:solidFill>
                <a:latin typeface="Aptos"/>
              </a:defRPr>
            </a:pPr>
            <a:r>
              <a:rPr lang="en-US" altLang="en-US" sz="1400" b="1">
                <a:solidFill>
                  <a:schemeClr val="bg1">
                    <a:lumMod val="50000"/>
                  </a:schemeClr>
                </a:solidFill>
              </a:rPr>
              <a:t>Outcome: Outcome: Stores ATM transaction details in a text file for future reference.</a:t>
            </a:r>
            <a:endParaRPr lang="en-US" altLang="en-US" sz="1400" b="1">
              <a:solidFill>
                <a:schemeClr val="bg1">
                  <a:lumMod val="50000"/>
                </a:schemeClr>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94360" y="347472"/>
            <a:ext cx="8502650" cy="506730"/>
          </a:xfrm>
          <a:prstGeom prst="rect">
            <a:avLst/>
          </a:prstGeom>
          <a:noFill/>
        </p:spPr>
        <p:txBody>
          <a:bodyPr wrap="none">
            <a:spAutoFit/>
          </a:bodyPr>
          <a:lstStyle/>
          <a:p>
            <a:pPr algn="l">
              <a:defRPr sz="2700" b="1">
                <a:solidFill>
                  <a:srgbClr val="192D46"/>
                </a:solidFill>
                <a:latin typeface="Aptos Display"/>
              </a:defRPr>
            </a:pPr>
            <a:r>
              <a:t>CO</a:t>
            </a:r>
            <a:r>
              <a:rPr lang="en-US"/>
              <a:t>6</a:t>
            </a:r>
            <a:r>
              <a:t> – </a:t>
            </a:r>
            <a:r>
              <a:rPr lang="en-US" altLang="en-US"/>
              <a:t>Collections &amp; Functional Programming Used</a:t>
            </a:r>
            <a:endParaRPr lang="en-US" altLang="en-US"/>
          </a:p>
        </p:txBody>
      </p:sp>
      <p:sp>
        <p:nvSpPr>
          <p:cNvPr id="3" name="Rectangle 2"/>
          <p:cNvSpPr/>
          <p:nvPr/>
        </p:nvSpPr>
        <p:spPr>
          <a:xfrm>
            <a:off x="594360" y="1078992"/>
            <a:ext cx="10972800" cy="32004"/>
          </a:xfrm>
          <a:prstGeom prst="rect">
            <a:avLst/>
          </a:prstGeom>
          <a:solidFill>
            <a:srgbClr val="4678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94360" y="1417320"/>
            <a:ext cx="4983480" cy="4709160"/>
          </a:xfrm>
          <a:prstGeom prst="roundRect">
            <a:avLst/>
          </a:prstGeom>
          <a:solidFill>
            <a:srgbClr val="FFFFFF"/>
          </a:solidFill>
          <a:ln>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806440" y="1417320"/>
            <a:ext cx="5760720" cy="4709160"/>
          </a:xfrm>
          <a:prstGeom prst="roundRect">
            <a:avLst/>
          </a:prstGeom>
          <a:solidFill>
            <a:srgbClr val="1E2228"/>
          </a:solidFill>
          <a:ln>
            <a:solidFill>
              <a:srgbClr val="1E22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1691640"/>
            <a:ext cx="4846320" cy="365760"/>
          </a:xfrm>
          <a:prstGeom prst="rect">
            <a:avLst/>
          </a:prstGeom>
          <a:noFill/>
        </p:spPr>
        <p:txBody>
          <a:bodyPr wrap="none">
            <a:spAutoFit/>
          </a:bodyPr>
          <a:lstStyle/>
          <a:p>
            <a:pPr>
              <a:defRPr sz="1900" b="1">
                <a:solidFill>
                  <a:srgbClr val="192D46"/>
                </a:solidFill>
                <a:latin typeface="Aptos Display"/>
              </a:defRPr>
            </a:pPr>
            <a:r>
              <a:t>Concepts Used</a:t>
            </a:r>
          </a:p>
        </p:txBody>
      </p:sp>
      <p:sp>
        <p:nvSpPr>
          <p:cNvPr id="7" name="TextBox 6"/>
          <p:cNvSpPr txBox="1"/>
          <p:nvPr/>
        </p:nvSpPr>
        <p:spPr>
          <a:xfrm>
            <a:off x="6144768" y="1637030"/>
            <a:ext cx="4846320" cy="365760"/>
          </a:xfrm>
          <a:prstGeom prst="rect">
            <a:avLst/>
          </a:prstGeom>
          <a:noFill/>
        </p:spPr>
        <p:txBody>
          <a:bodyPr wrap="none">
            <a:spAutoFit/>
          </a:bodyPr>
          <a:lstStyle/>
          <a:p>
            <a:pPr>
              <a:defRPr sz="1900" b="1">
                <a:solidFill>
                  <a:srgbClr val="EBF0F5"/>
                </a:solidFill>
                <a:latin typeface="Aptos Display"/>
              </a:defRPr>
            </a:pPr>
            <a:r>
              <a:t>Code Reference</a:t>
            </a:r>
          </a:p>
        </p:txBody>
      </p:sp>
      <p:sp>
        <p:nvSpPr>
          <p:cNvPr id="8" name="TextBox 7"/>
          <p:cNvSpPr txBox="1"/>
          <p:nvPr/>
        </p:nvSpPr>
        <p:spPr>
          <a:xfrm>
            <a:off x="896112" y="2148840"/>
            <a:ext cx="4389120" cy="1514475"/>
          </a:xfrm>
          <a:prstGeom prst="rect">
            <a:avLst/>
          </a:prstGeom>
          <a:noFill/>
        </p:spPr>
        <p:txBody>
          <a:bodyPr wrap="square">
            <a:spAutoFit/>
          </a:bodyPr>
          <a:lstStyle/>
          <a:p>
            <a:pPr>
              <a:spcAft>
                <a:spcPts val="1300"/>
              </a:spcAft>
              <a:defRPr sz="1420">
                <a:solidFill>
                  <a:srgbClr val="37414B"/>
                </a:solidFill>
                <a:latin typeface="Aptos"/>
              </a:defRPr>
            </a:pPr>
            <a:r>
              <a:rPr lang="en-US" altLang="en-US" b="1"/>
              <a:t>ArrayList:</a:t>
            </a:r>
            <a:r>
              <a:rPr lang="en-US" altLang="en-US"/>
              <a:t> Stores multiple ATM transaction records.</a:t>
            </a:r>
            <a:endParaRPr lang="en-US" altLang="en-US"/>
          </a:p>
          <a:p>
            <a:pPr>
              <a:spcAft>
                <a:spcPts val="1300"/>
              </a:spcAft>
              <a:defRPr sz="1420">
                <a:solidFill>
                  <a:srgbClr val="37414B"/>
                </a:solidFill>
                <a:latin typeface="Aptos"/>
              </a:defRPr>
            </a:pPr>
            <a:r>
              <a:rPr lang="en-US" altLang="en-US" b="1"/>
              <a:t>Lambda Expressions:</a:t>
            </a:r>
            <a:r>
              <a:rPr lang="en-US" altLang="en-US"/>
              <a:t> Processes transaction records using a concise function.</a:t>
            </a:r>
            <a:endParaRPr lang="en-US" altLang="en-US"/>
          </a:p>
          <a:p>
            <a:pPr>
              <a:spcAft>
                <a:spcPts val="1300"/>
              </a:spcAft>
              <a:defRPr sz="1420">
                <a:solidFill>
                  <a:srgbClr val="37414B"/>
                </a:solidFill>
                <a:latin typeface="Aptos"/>
              </a:defRPr>
            </a:pPr>
            <a:r>
              <a:rPr lang="en-US" altLang="en-US" b="1"/>
              <a:t>Streams:</a:t>
            </a:r>
            <a:r>
              <a:rPr lang="en-US" altLang="en-US"/>
              <a:t> Filters transactions based on specific conditions.</a:t>
            </a:r>
            <a:endParaRPr lang="en-US" altLang="en-US"/>
          </a:p>
        </p:txBody>
      </p:sp>
      <p:sp>
        <p:nvSpPr>
          <p:cNvPr id="9" name="Rounded Rectangle 8"/>
          <p:cNvSpPr/>
          <p:nvPr/>
        </p:nvSpPr>
        <p:spPr>
          <a:xfrm>
            <a:off x="6007862" y="2098548"/>
            <a:ext cx="5166360" cy="3520440"/>
          </a:xfrm>
          <a:prstGeom prst="roundRect">
            <a:avLst/>
          </a:prstGeom>
          <a:solidFill>
            <a:srgbClr val="14171C"/>
          </a:solidFill>
          <a:ln>
            <a:solidFill>
              <a:srgbClr val="41464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309360" y="2304288"/>
            <a:ext cx="100584" cy="100584"/>
          </a:xfrm>
          <a:prstGeom prst="ellipse">
            <a:avLst/>
          </a:prstGeom>
          <a:solidFill>
            <a:schemeClr val="accent2">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10528" y="2304288"/>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711696" y="2304288"/>
            <a:ext cx="100584" cy="100584"/>
          </a:xfrm>
          <a:prstGeom prst="ellipse">
            <a:avLst/>
          </a:prstGeom>
          <a:solidFill>
            <a:srgbClr val="00B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28715" y="2579878"/>
            <a:ext cx="4678680" cy="2707005"/>
          </a:xfrm>
          <a:prstGeom prst="rect">
            <a:avLst/>
          </a:prstGeom>
          <a:noFill/>
        </p:spPr>
        <p:txBody>
          <a:bodyPr wrap="none">
            <a:spAutoFit/>
          </a:bodyPr>
          <a:lstStyle/>
          <a:p>
            <a:pPr algn="l">
              <a:spcAft>
                <a:spcPts val="0"/>
              </a:spcAft>
              <a:defRPr sz="1250">
                <a:solidFill>
                  <a:srgbClr val="EBEEF2"/>
                </a:solidFill>
                <a:latin typeface="Menlo" panose="020B0609030804020204"/>
              </a:defRPr>
            </a:pPr>
            <a:r>
              <a:rPr lang="en-US" altLang="en-US" sz="1000"/>
              <a:t>import java.util.ArrayList;</a:t>
            </a:r>
            <a:endParaRPr lang="en-US" altLang="en-US" sz="1000"/>
          </a:p>
          <a:p>
            <a:pPr algn="l">
              <a:spcAft>
                <a:spcPts val="0"/>
              </a:spcAft>
              <a:defRPr sz="1250">
                <a:solidFill>
                  <a:srgbClr val="EBEEF2"/>
                </a:solidFill>
                <a:latin typeface="Menlo" panose="020B0609030804020204"/>
              </a:defRPr>
            </a:pPr>
            <a:endParaRPr lang="en-US" altLang="en-US" sz="1000"/>
          </a:p>
          <a:p>
            <a:pPr algn="l">
              <a:spcAft>
                <a:spcPts val="0"/>
              </a:spcAft>
              <a:defRPr sz="1250">
                <a:solidFill>
                  <a:srgbClr val="EBEEF2"/>
                </a:solidFill>
                <a:latin typeface="Menlo" panose="020B0609030804020204"/>
              </a:defRPr>
            </a:pPr>
            <a:r>
              <a:rPr lang="en-US" altLang="en-US" sz="1000"/>
              <a:t>public class TransactionHistory {</a:t>
            </a:r>
            <a:endParaRPr lang="en-US" altLang="en-US" sz="1000"/>
          </a:p>
          <a:p>
            <a:pPr algn="l">
              <a:spcAft>
                <a:spcPts val="0"/>
              </a:spcAft>
              <a:defRPr sz="1250">
                <a:solidFill>
                  <a:srgbClr val="EBEEF2"/>
                </a:solidFill>
                <a:latin typeface="Menlo" panose="020B0609030804020204"/>
              </a:defRPr>
            </a:pPr>
            <a:r>
              <a:rPr lang="en-US" altLang="en-US" sz="1000"/>
              <a:t>    public static void main(String[] args) {</a:t>
            </a:r>
            <a:endParaRPr lang="en-US" altLang="en-US" sz="1000"/>
          </a:p>
          <a:p>
            <a:pPr algn="l">
              <a:spcAft>
                <a:spcPts val="0"/>
              </a:spcAft>
              <a:defRPr sz="1250">
                <a:solidFill>
                  <a:srgbClr val="EBEEF2"/>
                </a:solidFill>
                <a:latin typeface="Menlo" panose="020B0609030804020204"/>
              </a:defRPr>
            </a:pPr>
            <a:r>
              <a:rPr lang="en-US" altLang="en-US" sz="1000"/>
              <a:t>        ArrayList&lt;String&gt; transactions = new ArrayList&lt;&gt;();</a:t>
            </a:r>
            <a:endParaRPr lang="en-US" altLang="en-US" sz="1000"/>
          </a:p>
          <a:p>
            <a:pPr algn="l">
              <a:spcAft>
                <a:spcPts val="0"/>
              </a:spcAft>
              <a:defRPr sz="1250">
                <a:solidFill>
                  <a:srgbClr val="EBEEF2"/>
                </a:solidFill>
                <a:latin typeface="Menlo" panose="020B0609030804020204"/>
              </a:defRPr>
            </a:pPr>
            <a:endParaRPr lang="en-US" altLang="en-US" sz="1000"/>
          </a:p>
          <a:p>
            <a:pPr algn="l">
              <a:spcAft>
                <a:spcPts val="0"/>
              </a:spcAft>
              <a:defRPr sz="1250">
                <a:solidFill>
                  <a:srgbClr val="EBEEF2"/>
                </a:solidFill>
                <a:latin typeface="Menlo" panose="020B0609030804020204"/>
              </a:defRPr>
            </a:pPr>
            <a:r>
              <a:rPr lang="en-US" altLang="en-US" sz="1000"/>
              <a:t>        transactions.add("Deposit: Rs. 500");</a:t>
            </a:r>
            <a:endParaRPr lang="en-US" altLang="en-US" sz="1000"/>
          </a:p>
          <a:p>
            <a:pPr algn="l">
              <a:spcAft>
                <a:spcPts val="0"/>
              </a:spcAft>
              <a:defRPr sz="1250">
                <a:solidFill>
                  <a:srgbClr val="EBEEF2"/>
                </a:solidFill>
                <a:latin typeface="Menlo" panose="020B0609030804020204"/>
              </a:defRPr>
            </a:pPr>
            <a:r>
              <a:rPr lang="en-US" altLang="en-US" sz="1000"/>
              <a:t>        transactions.add("Withdraw: Rs. 200");</a:t>
            </a:r>
            <a:endParaRPr lang="en-US" altLang="en-US" sz="1000"/>
          </a:p>
          <a:p>
            <a:pPr algn="l">
              <a:spcAft>
                <a:spcPts val="0"/>
              </a:spcAft>
              <a:defRPr sz="1250">
                <a:solidFill>
                  <a:srgbClr val="EBEEF2"/>
                </a:solidFill>
                <a:latin typeface="Menlo" panose="020B0609030804020204"/>
              </a:defRPr>
            </a:pPr>
            <a:r>
              <a:rPr lang="en-US" altLang="en-US" sz="1000"/>
              <a:t>        transactions.add("Deposit: Rs. 1000");</a:t>
            </a:r>
            <a:endParaRPr lang="en-US" altLang="en-US" sz="1000"/>
          </a:p>
          <a:p>
            <a:pPr algn="l">
              <a:spcAft>
                <a:spcPts val="0"/>
              </a:spcAft>
              <a:defRPr sz="1250">
                <a:solidFill>
                  <a:srgbClr val="EBEEF2"/>
                </a:solidFill>
                <a:latin typeface="Menlo" panose="020B0609030804020204"/>
              </a:defRPr>
            </a:pPr>
            <a:endParaRPr lang="en-US" altLang="en-US" sz="1000"/>
          </a:p>
          <a:p>
            <a:pPr algn="l">
              <a:spcAft>
                <a:spcPts val="0"/>
              </a:spcAft>
              <a:defRPr sz="1250">
                <a:solidFill>
                  <a:srgbClr val="EBEEF2"/>
                </a:solidFill>
                <a:latin typeface="Menlo" panose="020B0609030804020204"/>
              </a:defRPr>
            </a:pPr>
            <a:r>
              <a:rPr lang="en-US" altLang="en-US" sz="1000"/>
              <a:t>        System.out.println("Deposit Transactions:");</a:t>
            </a:r>
            <a:endParaRPr lang="en-US" altLang="en-US" sz="1000"/>
          </a:p>
          <a:p>
            <a:pPr algn="l">
              <a:spcAft>
                <a:spcPts val="0"/>
              </a:spcAft>
              <a:defRPr sz="1250">
                <a:solidFill>
                  <a:srgbClr val="EBEEF2"/>
                </a:solidFill>
                <a:latin typeface="Menlo" panose="020B0609030804020204"/>
              </a:defRPr>
            </a:pPr>
            <a:endParaRPr lang="en-US" altLang="en-US" sz="1000"/>
          </a:p>
          <a:p>
            <a:pPr algn="l">
              <a:spcAft>
                <a:spcPts val="0"/>
              </a:spcAft>
              <a:defRPr sz="1250">
                <a:solidFill>
                  <a:srgbClr val="EBEEF2"/>
                </a:solidFill>
                <a:latin typeface="Menlo" panose="020B0609030804020204"/>
              </a:defRPr>
            </a:pPr>
            <a:r>
              <a:rPr lang="en-US" altLang="en-US" sz="1000"/>
              <a:t>        transactions.stream()</a:t>
            </a:r>
            <a:endParaRPr lang="en-US" altLang="en-US" sz="1000"/>
          </a:p>
          <a:p>
            <a:pPr algn="l">
              <a:spcAft>
                <a:spcPts val="0"/>
              </a:spcAft>
              <a:defRPr sz="1250">
                <a:solidFill>
                  <a:srgbClr val="EBEEF2"/>
                </a:solidFill>
                <a:latin typeface="Menlo" panose="020B0609030804020204"/>
              </a:defRPr>
            </a:pPr>
            <a:r>
              <a:rPr lang="en-US" altLang="en-US" sz="1000"/>
              <a:t>            .filter(t -&gt; t.startsWith("Deposit"))</a:t>
            </a:r>
            <a:endParaRPr lang="en-US" altLang="en-US" sz="1000"/>
          </a:p>
          <a:p>
            <a:pPr algn="l">
              <a:spcAft>
                <a:spcPts val="0"/>
              </a:spcAft>
              <a:defRPr sz="1250">
                <a:solidFill>
                  <a:srgbClr val="EBEEF2"/>
                </a:solidFill>
                <a:latin typeface="Menlo" panose="020B0609030804020204"/>
              </a:defRPr>
            </a:pPr>
            <a:r>
              <a:rPr lang="en-US" altLang="en-US" sz="1000"/>
              <a:t>            .forEach(t -&gt; System.out.println(t));</a:t>
            </a:r>
            <a:endParaRPr lang="en-US" altLang="en-US" sz="1000"/>
          </a:p>
          <a:p>
            <a:pPr algn="l">
              <a:spcAft>
                <a:spcPts val="0"/>
              </a:spcAft>
              <a:defRPr sz="1250">
                <a:solidFill>
                  <a:srgbClr val="EBEEF2"/>
                </a:solidFill>
                <a:latin typeface="Menlo" panose="020B0609030804020204"/>
              </a:defRPr>
            </a:pPr>
            <a:r>
              <a:rPr lang="en-US" altLang="en-US" sz="1000"/>
              <a:t>    }</a:t>
            </a:r>
            <a:endParaRPr lang="en-US" altLang="en-US" sz="1000"/>
          </a:p>
          <a:p>
            <a:pPr algn="l">
              <a:spcAft>
                <a:spcPts val="0"/>
              </a:spcAft>
              <a:defRPr sz="1250">
                <a:solidFill>
                  <a:srgbClr val="EBEEF2"/>
                </a:solidFill>
                <a:latin typeface="Menlo" panose="020B0609030804020204"/>
              </a:defRPr>
            </a:pPr>
            <a:r>
              <a:rPr lang="en-US" altLang="en-US" sz="1000"/>
              <a:t>}</a:t>
            </a:r>
            <a:endParaRPr lang="en-US" altLang="en-US" sz="1000"/>
          </a:p>
        </p:txBody>
      </p:sp>
      <p:sp>
        <p:nvSpPr>
          <p:cNvPr id="14" name="TextBox 13"/>
          <p:cNvSpPr txBox="1"/>
          <p:nvPr/>
        </p:nvSpPr>
        <p:spPr>
          <a:xfrm>
            <a:off x="6144768" y="5715000"/>
            <a:ext cx="5029200" cy="274320"/>
          </a:xfrm>
          <a:prstGeom prst="rect">
            <a:avLst/>
          </a:prstGeom>
          <a:noFill/>
        </p:spPr>
        <p:txBody>
          <a:bodyPr wrap="none">
            <a:spAutoFit/>
          </a:bodyPr>
          <a:lstStyle/>
          <a:p>
            <a:pPr>
              <a:defRPr sz="950" i="1">
                <a:solidFill>
                  <a:srgbClr val="B9C0C8"/>
                </a:solidFill>
                <a:latin typeface="Aptos"/>
              </a:defRPr>
            </a:pPr>
            <a:r>
              <a:t>Selected directly from the ATM Transaction Simulator</a:t>
            </a:r>
          </a:p>
        </p:txBody>
      </p:sp>
      <p:sp>
        <p:nvSpPr>
          <p:cNvPr id="15" name="TextBox 14"/>
          <p:cNvSpPr txBox="1"/>
          <p:nvPr/>
        </p:nvSpPr>
        <p:spPr>
          <a:xfrm>
            <a:off x="594360" y="6355080"/>
            <a:ext cx="10972800" cy="228600"/>
          </a:xfrm>
          <a:prstGeom prst="rect">
            <a:avLst/>
          </a:prstGeom>
          <a:noFill/>
        </p:spPr>
        <p:txBody>
          <a:bodyPr wrap="none">
            <a:spAutoFit/>
          </a:bodyPr>
          <a:lstStyle/>
          <a:p>
            <a:pPr algn="r">
              <a:defRPr sz="950">
                <a:solidFill>
                  <a:srgbClr val="7D8791"/>
                </a:solidFill>
                <a:latin typeface="Aptos"/>
              </a:defRPr>
            </a:pPr>
            <a:r>
              <a:t>ATM Transaction Simulator | Problem Solving Using Programming (Java)</a:t>
            </a:r>
          </a:p>
        </p:txBody>
      </p:sp>
      <p:sp>
        <p:nvSpPr>
          <p:cNvPr id="16" name="TextBox 13"/>
          <p:cNvSpPr txBox="1"/>
          <p:nvPr/>
        </p:nvSpPr>
        <p:spPr>
          <a:xfrm>
            <a:off x="126873" y="6177915"/>
            <a:ext cx="6581775" cy="521970"/>
          </a:xfrm>
          <a:prstGeom prst="rect">
            <a:avLst/>
          </a:prstGeom>
          <a:noFill/>
        </p:spPr>
        <p:txBody>
          <a:bodyPr wrap="none">
            <a:spAutoFit/>
          </a:bodyPr>
          <a:lstStyle/>
          <a:p>
            <a:pPr algn="l">
              <a:defRPr sz="950" i="1">
                <a:solidFill>
                  <a:srgbClr val="B9C0C8"/>
                </a:solidFill>
                <a:latin typeface="Aptos"/>
              </a:defRPr>
            </a:pPr>
            <a:r>
              <a:rPr lang="en-US" altLang="en-US" sz="1400" b="1">
                <a:solidFill>
                  <a:schemeClr val="bg1">
                    <a:lumMod val="50000"/>
                  </a:schemeClr>
                </a:solidFill>
              </a:rPr>
              <a:t>Outcome: Stores ATM transaction history using ArrayList and displays only </a:t>
            </a:r>
            <a:endParaRPr lang="en-US" altLang="en-US" sz="1400" b="1">
              <a:solidFill>
                <a:schemeClr val="bg1">
                  <a:lumMod val="50000"/>
                </a:schemeClr>
              </a:solidFill>
            </a:endParaRPr>
          </a:p>
          <a:p>
            <a:pPr algn="l">
              <a:defRPr sz="950" i="1">
                <a:solidFill>
                  <a:srgbClr val="B9C0C8"/>
                </a:solidFill>
                <a:latin typeface="Aptos"/>
              </a:defRPr>
            </a:pPr>
            <a:r>
              <a:rPr lang="en-US" altLang="en-US" sz="1400" b="1">
                <a:solidFill>
                  <a:schemeClr val="bg1">
                    <a:lumMod val="50000"/>
                  </a:schemeClr>
                </a:solidFill>
              </a:rPr>
              <a:t>                  deposit transactions using streams and lambda expressions.</a:t>
            </a:r>
            <a:endParaRPr lang="en-US" altLang="en-US" sz="1400" b="1">
              <a:solidFill>
                <a:schemeClr val="bg1">
                  <a:lumMod val="50000"/>
                </a:schemeClr>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48640" y="224155"/>
            <a:ext cx="1439545" cy="521970"/>
          </a:xfrm>
          <a:prstGeom prst="rect">
            <a:avLst/>
          </a:prstGeom>
          <a:noFill/>
        </p:spPr>
        <p:txBody>
          <a:bodyPr wrap="none">
            <a:spAutoFit/>
          </a:bodyPr>
          <a:lstStyle/>
          <a:p>
            <a:pPr>
              <a:defRPr sz="2800" b="1"/>
            </a:pPr>
            <a:r>
              <a:t>Testing</a:t>
            </a:r>
          </a:p>
        </p:txBody>
      </p:sp>
      <p:sp>
        <p:nvSpPr>
          <p:cNvPr id="3" name="TextBox 2"/>
          <p:cNvSpPr txBox="1"/>
          <p:nvPr/>
        </p:nvSpPr>
        <p:spPr>
          <a:xfrm>
            <a:off x="621792" y="803148"/>
            <a:ext cx="10789920" cy="320040"/>
          </a:xfrm>
          <a:prstGeom prst="rect">
            <a:avLst/>
          </a:prstGeom>
          <a:noFill/>
        </p:spPr>
        <p:txBody>
          <a:bodyPr wrap="none">
            <a:spAutoFit/>
          </a:bodyPr>
          <a:lstStyle/>
          <a:p>
            <a:pPr>
              <a:defRPr sz="1200">
                <a:solidFill>
                  <a:srgbClr val="646E78"/>
                </a:solidFill>
              </a:defRPr>
            </a:pPr>
            <a:r>
              <a:t>Validation scenarios from the project plan</a:t>
            </a:r>
          </a:p>
        </p:txBody>
      </p:sp>
      <p:sp>
        <p:nvSpPr>
          <p:cNvPr id="8" name="TextBox 7"/>
          <p:cNvSpPr txBox="1"/>
          <p:nvPr/>
        </p:nvSpPr>
        <p:spPr>
          <a:xfrm>
            <a:off x="548640" y="6583680"/>
            <a:ext cx="11327130" cy="213995"/>
          </a:xfrm>
          <a:prstGeom prst="rect">
            <a:avLst/>
          </a:prstGeom>
          <a:noFill/>
        </p:spPr>
        <p:txBody>
          <a:bodyPr wrap="none">
            <a:spAutoFit/>
          </a:bodyPr>
          <a:lstStyle/>
          <a:p>
            <a:pPr algn="l">
              <a:defRPr sz="800">
                <a:solidFill>
                  <a:srgbClr val="6E7882"/>
                </a:solidFill>
              </a:defRPr>
            </a:pPr>
            <a:r>
              <a:t>ATM Transaction Simulator  •  Java Project                                      </a:t>
            </a:r>
            <a:r>
              <a:rPr lang="en-US"/>
              <a:t>8												</a:t>
            </a:r>
            <a:r>
              <a:rPr lang="en-US" altLang="en-US">
                <a:solidFill>
                  <a:schemeClr val="tx2">
                    <a:lumMod val="40000"/>
                    <a:lumOff val="60000"/>
                  </a:schemeClr>
                </a:solidFill>
                <a:sym typeface="+mn-ea"/>
              </a:rPr>
              <a:t>https://github.com/Keerthan858/KLH-FED-2026-Java-Section-3</a:t>
            </a:r>
            <a:endParaRPr lang="en-US"/>
          </a:p>
        </p:txBody>
      </p:sp>
      <p:sp>
        <p:nvSpPr>
          <p:cNvPr id="5" name="TextBox 13"/>
          <p:cNvSpPr txBox="1"/>
          <p:nvPr/>
        </p:nvSpPr>
        <p:spPr>
          <a:xfrm>
            <a:off x="266573" y="5897880"/>
            <a:ext cx="11760835" cy="521970"/>
          </a:xfrm>
          <a:prstGeom prst="rect">
            <a:avLst/>
          </a:prstGeom>
          <a:noFill/>
        </p:spPr>
        <p:txBody>
          <a:bodyPr wrap="none">
            <a:spAutoFit/>
          </a:bodyPr>
          <a:lstStyle/>
          <a:p>
            <a:pPr algn="l">
              <a:defRPr sz="950" i="1">
                <a:solidFill>
                  <a:srgbClr val="B9C0C8"/>
                </a:solidFill>
                <a:latin typeface="Aptos"/>
              </a:defRPr>
            </a:pPr>
            <a:r>
              <a:rPr lang="en-US" altLang="en-US" sz="1400" b="1">
                <a:solidFill>
                  <a:schemeClr val="bg1">
                    <a:lumMod val="50000"/>
                  </a:schemeClr>
                </a:solidFill>
              </a:rPr>
              <a:t>Overall Testing Outcome: The ATM system is tested for valid and invalid inputs, balance operations, transaction recording, and program </a:t>
            </a:r>
            <a:endParaRPr lang="en-US" altLang="en-US" sz="1400" b="1">
              <a:solidFill>
                <a:schemeClr val="bg1">
                  <a:lumMod val="50000"/>
                </a:schemeClr>
              </a:solidFill>
            </a:endParaRPr>
          </a:p>
          <a:p>
            <a:pPr algn="l">
              <a:defRPr sz="950" i="1">
                <a:solidFill>
                  <a:srgbClr val="B9C0C8"/>
                </a:solidFill>
                <a:latin typeface="Aptos"/>
              </a:defRPr>
            </a:pPr>
            <a:r>
              <a:rPr lang="en-US" altLang="en-US" sz="1400" b="1">
                <a:solidFill>
                  <a:schemeClr val="bg1">
                    <a:lumMod val="50000"/>
                  </a:schemeClr>
                </a:solidFill>
              </a:rPr>
              <a:t>                                            termination to verify that it performs the expected functions correctly.</a:t>
            </a:r>
            <a:endParaRPr lang="en-US" altLang="en-US" sz="1400" b="1">
              <a:solidFill>
                <a:schemeClr val="bg1">
                  <a:lumMod val="50000"/>
                </a:schemeClr>
              </a:solidFill>
            </a:endParaRPr>
          </a:p>
        </p:txBody>
      </p:sp>
      <p:pic>
        <p:nvPicPr>
          <p:cNvPr id="9" name="Picture 8" descr="Screenshot 2026-10-15 at 5.50.56 PM"/>
          <p:cNvPicPr>
            <a:picLocks noChangeAspect="1"/>
          </p:cNvPicPr>
          <p:nvPr/>
        </p:nvPicPr>
        <p:blipFill>
          <a:blip r:embed="rId1"/>
          <a:stretch>
            <a:fillRect/>
          </a:stretch>
        </p:blipFill>
        <p:spPr>
          <a:xfrm>
            <a:off x="621665" y="1123315"/>
            <a:ext cx="9912350" cy="428371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21C2A"/>
        </a:solidFill>
        <a:effectLst/>
      </p:bgPr>
    </p:bg>
    <p:spTree>
      <p:nvGrpSpPr>
        <p:cNvPr id="1" name=""/>
        <p:cNvGrpSpPr/>
        <p:nvPr/>
      </p:nvGrpSpPr>
      <p:grpSpPr/>
      <p:pic>
        <p:nvPicPr>
          <p:cNvPr id="5" name="Picture 4" descr="2026-09-22 17.57.05"/>
          <p:cNvPicPr>
            <a:picLocks noChangeAspect="1"/>
          </p:cNvPicPr>
          <p:nvPr/>
        </p:nvPicPr>
        <p:blipFill>
          <a:blip r:embed="rId1"/>
          <a:stretch>
            <a:fillRect/>
          </a:stretch>
        </p:blipFill>
        <p:spPr>
          <a:xfrm>
            <a:off x="2879090" y="207645"/>
            <a:ext cx="6433185" cy="4824730"/>
          </a:xfrm>
          <a:prstGeom prst="rect">
            <a:avLst/>
          </a:prstGeom>
        </p:spPr>
      </p:pic>
      <p:sp>
        <p:nvSpPr>
          <p:cNvPr id="3" name="TextBox 2"/>
          <p:cNvSpPr txBox="1"/>
          <p:nvPr/>
        </p:nvSpPr>
        <p:spPr>
          <a:xfrm>
            <a:off x="2345690" y="5478780"/>
            <a:ext cx="7470140" cy="398780"/>
          </a:xfrm>
          <a:prstGeom prst="rect">
            <a:avLst/>
          </a:prstGeom>
          <a:noFill/>
        </p:spPr>
        <p:txBody>
          <a:bodyPr wrap="none">
            <a:spAutoFit/>
          </a:bodyPr>
          <a:lstStyle/>
          <a:p>
            <a:pPr algn="ctr">
              <a:defRPr sz="2000">
                <a:solidFill>
                  <a:srgbClr val="BED2E6"/>
                </a:solidFill>
              </a:defRPr>
            </a:pPr>
            <a:r>
              <a:rPr lang="en-US" altLang="en-US">
                <a:solidFill>
                  <a:schemeClr val="tx2">
                    <a:lumMod val="40000"/>
                    <a:lumOff val="60000"/>
                  </a:schemeClr>
                </a:solidFill>
                <a:sym typeface="+mn-ea"/>
              </a:rPr>
              <a:t>https://github.com/Keerthan858/KLH-FED-2026-Java-Section-3</a:t>
            </a:r>
            <a:endParaRPr lang="en-US" altLang="en-US">
              <a:solidFill>
                <a:schemeClr val="tx2">
                  <a:lumMod val="40000"/>
                  <a:lumOff val="60000"/>
                </a:schemeClr>
              </a:solidFill>
              <a:sym typeface="+mn-ea"/>
            </a:endParaRPr>
          </a:p>
        </p:txBody>
      </p:sp>
      <p:sp>
        <p:nvSpPr>
          <p:cNvPr id="4" name="TextBox 3"/>
          <p:cNvSpPr txBox="1"/>
          <p:nvPr/>
        </p:nvSpPr>
        <p:spPr>
          <a:xfrm>
            <a:off x="548640" y="6583680"/>
            <a:ext cx="11327130" cy="213995"/>
          </a:xfrm>
          <a:prstGeom prst="rect">
            <a:avLst/>
          </a:prstGeom>
          <a:noFill/>
        </p:spPr>
        <p:txBody>
          <a:bodyPr wrap="none">
            <a:spAutoFit/>
          </a:bodyPr>
          <a:lstStyle/>
          <a:p>
            <a:pPr algn="l">
              <a:defRPr sz="800">
                <a:solidFill>
                  <a:srgbClr val="6E7882"/>
                </a:solidFill>
              </a:defRPr>
            </a:pPr>
            <a:r>
              <a:t>ATM Transaction Simulator  •  Java Project                                      </a:t>
            </a:r>
            <a:r>
              <a:rPr lang="en-US"/>
              <a:t>9												</a:t>
            </a:r>
            <a:r>
              <a:rPr lang="en-US" altLang="en-US">
                <a:solidFill>
                  <a:schemeClr val="tx2">
                    <a:lumMod val="40000"/>
                    <a:lumOff val="60000"/>
                  </a:schemeClr>
                </a:solidFill>
                <a:sym typeface="+mn-ea"/>
              </a:rPr>
              <a:t>https://github.com/Keerthan858/KLH-FED-2026-Java-Section-3</a:t>
            </a:r>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8212</Words>
  <Application>WPS Presentation</Application>
  <PresentationFormat>On-screen Show (4:3)</PresentationFormat>
  <Paragraphs>203</Paragraphs>
  <Slides>11</Slides>
  <Notes>0</Notes>
  <HiddenSlides>0</HiddenSlides>
  <MMClips>0</MMClips>
  <ScaleCrop>false</ScaleCrop>
  <HeadingPairs>
    <vt:vector size="6" baseType="variant">
      <vt:variant>
        <vt:lpstr>已用的字体</vt:lpstr>
      </vt:variant>
      <vt:variant>
        <vt:i4>53</vt:i4>
      </vt:variant>
      <vt:variant>
        <vt:lpstr>主题</vt:lpstr>
      </vt:variant>
      <vt:variant>
        <vt:i4>1</vt:i4>
      </vt:variant>
      <vt:variant>
        <vt:lpstr>幻灯片标题</vt:lpstr>
      </vt:variant>
      <vt:variant>
        <vt:i4>11</vt:i4>
      </vt:variant>
    </vt:vector>
  </HeadingPairs>
  <TitlesOfParts>
    <vt:vector size="65" baseType="lpstr">
      <vt:lpstr>Arial</vt:lpstr>
      <vt:lpstr>SimSun</vt:lpstr>
      <vt:lpstr>Wingdings</vt:lpstr>
      <vt:lpstr>Arial</vt:lpstr>
      <vt:lpstr>Times New Roman Regular</vt:lpstr>
      <vt:lpstr>Aptos Display</vt:lpstr>
      <vt:lpstr>Helvetica Neue</vt:lpstr>
      <vt:lpstr>Aptos</vt:lpstr>
      <vt:lpstr>Menlo</vt:lpstr>
      <vt:lpstr>Calibri</vt:lpstr>
      <vt:lpstr>Microsoft YaHei</vt:lpstr>
      <vt:lpstr>汉仪旗黑</vt:lpstr>
      <vt:lpstr>Arial Unicode MS</vt:lpstr>
      <vt:lpstr>宋体-简</vt:lpstr>
      <vt:lpstr>Helvetica Neue Regular</vt:lpstr>
      <vt:lpstr>Adelle Sans Devanagari Regular</vt:lpstr>
      <vt:lpstr>American Typewriter Regular</vt:lpstr>
      <vt:lpstr>Al Nile Regular</vt:lpstr>
      <vt:lpstr>Apple Braille Regular</vt:lpstr>
      <vt:lpstr>Apple SD Gothic Neo Regular</vt:lpstr>
      <vt:lpstr>Arial Regular</vt:lpstr>
      <vt:lpstr>Arial Hebrew Scholar Regular</vt:lpstr>
      <vt:lpstr>Avenir Next Regular</vt:lpstr>
      <vt:lpstr>Avenir Book</vt:lpstr>
      <vt:lpstr>Arima Madurai Regular</vt:lpstr>
      <vt:lpstr>Arima Koshi Regular</vt:lpstr>
      <vt:lpstr>Arial Narrow Regular</vt:lpstr>
      <vt:lpstr>Arial Hebrew Regular</vt:lpstr>
      <vt:lpstr>Arial Black</vt:lpstr>
      <vt:lpstr>Arial Rounded MT Bold</vt:lpstr>
      <vt:lpstr>Baloo Chettan 2 Regular</vt:lpstr>
      <vt:lpstr>Baloo Bhaina 2 Regular</vt:lpstr>
      <vt:lpstr>Baloo Bhai 2 Regular</vt:lpstr>
      <vt:lpstr>Baloo 2 Regular</vt:lpstr>
      <vt:lpstr>Baloo Da 2 Regular</vt:lpstr>
      <vt:lpstr>Bangla MN Regular</vt:lpstr>
      <vt:lpstr>Corsiva Hebrew Regular</vt:lpstr>
      <vt:lpstr>Damascus Regular</vt:lpstr>
      <vt:lpstr>Bodoni 72 Oldstyle Bold</vt:lpstr>
      <vt:lpstr>Bangla Sangam MN Regular</vt:lpstr>
      <vt:lpstr>Baloo Thambi 2 Regular</vt:lpstr>
      <vt:lpstr>Baloo Tamma 2 Regular</vt:lpstr>
      <vt:lpstr>Baloo Paaji 2 Regular</vt:lpstr>
      <vt:lpstr>Avenir Next Condensed Regular</vt:lpstr>
      <vt:lpstr>Al Bayan Plain</vt:lpstr>
      <vt:lpstr>Comic Sans MS Regular</vt:lpstr>
      <vt:lpstr>Devanagari Sangam MN Regular</vt:lpstr>
      <vt:lpstr>Gill Sans Regular</vt:lpstr>
      <vt:lpstr>Gujarati Sangam MN Regular</vt:lpstr>
      <vt:lpstr>Hiragino Sans W0</vt:lpstr>
      <vt:lpstr>Gurmukhi Sangam MN Regular</vt:lpstr>
      <vt:lpstr>Grantha Sangam MN Regular</vt:lpstr>
      <vt:lpstr>Hiragino Sans GB W3</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Keerthan Ande</cp:lastModifiedBy>
  <cp:revision>21</cp:revision>
  <dcterms:created xsi:type="dcterms:W3CDTF">2026-10-15T12:35:34Z</dcterms:created>
  <dcterms:modified xsi:type="dcterms:W3CDTF">2026-10-15T12:35:34Z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1033-12.1.28496.28496</vt:lpwstr>
  </property>
  <property fmtid="{D5CDD505-2E9C-101B-9397-08002B2CF9AE}" pid="3" name="ICV">
    <vt:lpwstr>179467EBA25AE8CBCF41B16A29602CD8_43</vt:lpwstr>
  </property>
</Properties>
</file>